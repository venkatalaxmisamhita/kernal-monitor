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68c76d-1fb8-0ac6-cd6e-ae082c0b5ff1}">
          <p14:sldIdLst>
            <p14:sldId id="256"/>
            <p14:sldId id="257"/>
            <p14:sldId id="258"/>
            <p14:sldId id="259"/>
          </p14:sldIdLst>
        </p14:section>
        <p14:section name="Design" id="{80f1dab4-1e7c-e457-36eb-5f9a8fdd88d5}">
          <p14:sldIdLst>
            <p14:sldId id="260"/>
            <p14:sldId id="261"/>
            <p14:sldId id="262"/>
            <p14:sldId id="263"/>
          </p14:sldIdLst>
        </p14:section>
        <p14:section name="Monitoring" id="{aadb314d-ffe3-a9d1-5249-443eb6add11b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sults" id="{ad7186d9-5783-58c1-5e9c-5ad12ab497d8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KERNEL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MONITOR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Linux System and Process Resource Monitoring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Project 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Operating Systems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Language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Platform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Linux / Ubuntu</a:t>
            </a:r>
            <a:endParaRPr lang="en-US" sz="1400" dirty="0"/>
          </a:p>
        </p:txBody>
      </p:sp>
      <p:sp>
        <p:nvSpPr>
          <p:cNvPr id="5" name="Card 3"/>
          <p:cNvSpPr/>
          <p:nvPr/>
        </p:nvSpPr>
        <p:spPr>
          <a:xfrm>
            <a:off x="5852160" y="822960"/>
            <a:ext cx="2834640" cy="3566160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/>
        </p:spPr>
      </p:sp>
      <p:sp>
        <p:nvSpPr>
          <p:cNvPr id="6" name="Dot 4"/>
          <p:cNvSpPr/>
          <p:nvPr/>
        </p:nvSpPr>
        <p:spPr>
          <a:xfrm>
            <a:off x="6035040" y="1005840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Dot 5"/>
          <p:cNvSpPr/>
          <p:nvPr/>
        </p:nvSpPr>
        <p:spPr>
          <a:xfrm>
            <a:off x="6263640" y="1005840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Dot 6"/>
          <p:cNvSpPr/>
          <p:nvPr/>
        </p:nvSpPr>
        <p:spPr>
          <a:xfrm>
            <a:off x="6492240" y="1005840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80760" y="14173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./kernel_monitor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OVERVIEW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 [####------]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  [######----]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I/O  [##--------]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ANALYSIS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  : &lt;selected&gt;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NORMAL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Card 8"/>
          <p:cNvSpPr/>
          <p:nvPr/>
        </p:nvSpPr>
        <p:spPr>
          <a:xfrm>
            <a:off x="457200" y="1325880"/>
            <a:ext cx="3840480" cy="3273552"/>
          </a:xfrm>
          <a:prstGeom prst="roundRect">
            <a:avLst>
              <a:gd name="adj" fmla="val 2793"/>
            </a:avLst>
          </a:prstGeom>
          <a:solidFill>
            <a:schemeClr val="tx1"/>
          </a:solidFill>
          <a:ln/>
        </p:spPr>
      </p:sp>
      <p:sp>
        <p:nvSpPr>
          <p:cNvPr id="4" name="Badge 9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 10" descr="FaLin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60220"/>
            <a:ext cx="320040" cy="320040"/>
          </a:xfrm>
          <a:prstGeom prst="rect">
            <a:avLst/>
          </a:prstGeom>
        </p:spPr>
      </p:pic>
      <p:sp>
        <p:nvSpPr>
          <p:cNvPr id="6" name="Text 11"/>
          <p:cNvSpPr txBox="1"/>
          <p:nvPr/>
        </p:nvSpPr>
        <p:spPr>
          <a:xfrm>
            <a:off x="731520" y="24231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Kernel Monitor is a Linux-based system monitoring application developed in C.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It collects system information directly from Linux kernel interfaces.</a:t>
            </a:r>
            <a:endParaRPr lang="en-US" sz="1800" dirty="0"/>
          </a:p>
        </p:txBody>
      </p:sp>
      <p:sp>
        <p:nvSpPr>
          <p:cNvPr id="7" name="Card 12"/>
          <p:cNvSpPr/>
          <p:nvPr/>
        </p:nvSpPr>
        <p:spPr>
          <a:xfrm>
            <a:off x="4572000" y="1325880"/>
            <a:ext cx="41148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Badge 13"/>
          <p:cNvSpPr/>
          <p:nvPr/>
        </p:nvSpPr>
        <p:spPr>
          <a:xfrm>
            <a:off x="4709160" y="140817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14" descr="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508760"/>
            <a:ext cx="201168" cy="201168"/>
          </a:xfrm>
          <a:prstGeom prst="rect">
            <a:avLst/>
          </a:prstGeom>
        </p:spPr>
      </p:pic>
      <p:sp>
        <p:nvSpPr>
          <p:cNvPr id="10" name="Text 15"/>
          <p:cNvSpPr txBox="1"/>
          <p:nvPr/>
        </p:nvSpPr>
        <p:spPr>
          <a:xfrm>
            <a:off x="5303520" y="13258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System-wide resource information</a:t>
            </a:r>
            <a:endParaRPr lang="en-US" sz="1400" dirty="0"/>
          </a:p>
        </p:txBody>
      </p:sp>
      <p:sp>
        <p:nvSpPr>
          <p:cNvPr id="11" name="Card 16"/>
          <p:cNvSpPr/>
          <p:nvPr/>
        </p:nvSpPr>
        <p:spPr>
          <a:xfrm>
            <a:off x="4572000" y="2002536"/>
            <a:ext cx="41148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Badge 17"/>
          <p:cNvSpPr/>
          <p:nvPr/>
        </p:nvSpPr>
        <p:spPr>
          <a:xfrm>
            <a:off x="4709160" y="20848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18" descr="FaTas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185416"/>
            <a:ext cx="201168" cy="201168"/>
          </a:xfrm>
          <a:prstGeom prst="rect">
            <a:avLst/>
          </a:prstGeom>
        </p:spPr>
      </p:pic>
      <p:sp>
        <p:nvSpPr>
          <p:cNvPr id="14" name="Text 19"/>
          <p:cNvSpPr txBox="1"/>
          <p:nvPr/>
        </p:nvSpPr>
        <p:spPr>
          <a:xfrm>
            <a:off x="5303520" y="20025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Running process information</a:t>
            </a:r>
            <a:endParaRPr lang="en-US" sz="1400" dirty="0"/>
          </a:p>
        </p:txBody>
      </p:sp>
      <p:sp>
        <p:nvSpPr>
          <p:cNvPr id="15" name="Card 20"/>
          <p:cNvSpPr/>
          <p:nvPr/>
        </p:nvSpPr>
        <p:spPr>
          <a:xfrm>
            <a:off x="4572000" y="2679192"/>
            <a:ext cx="41148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Badge 21"/>
          <p:cNvSpPr/>
          <p:nvPr/>
        </p:nvSpPr>
        <p:spPr>
          <a:xfrm>
            <a:off x="4709160" y="276148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22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862072"/>
            <a:ext cx="201168" cy="201168"/>
          </a:xfrm>
          <a:prstGeom prst="rect">
            <a:avLst/>
          </a:prstGeom>
        </p:spPr>
      </p:pic>
      <p:sp>
        <p:nvSpPr>
          <p:cNvPr id="18" name="Text 23"/>
          <p:cNvSpPr txBox="1"/>
          <p:nvPr/>
        </p:nvSpPr>
        <p:spPr>
          <a:xfrm>
            <a:off x="5303520" y="26791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Detailed analysis of a selected process</a:t>
            </a:r>
            <a:endParaRPr lang="en-US" sz="1400" dirty="0"/>
          </a:p>
        </p:txBody>
      </p:sp>
      <p:sp>
        <p:nvSpPr>
          <p:cNvPr id="19" name="Card 24"/>
          <p:cNvSpPr/>
          <p:nvPr/>
        </p:nvSpPr>
        <p:spPr>
          <a:xfrm>
            <a:off x="4572000" y="3355848"/>
            <a:ext cx="41148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Badge 25"/>
          <p:cNvSpPr/>
          <p:nvPr/>
        </p:nvSpPr>
        <p:spPr>
          <a:xfrm>
            <a:off x="4709160" y="34381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 26" descr="FaChartLi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538728"/>
            <a:ext cx="201168" cy="201168"/>
          </a:xfrm>
          <a:prstGeom prst="rect">
            <a:avLst/>
          </a:prstGeom>
        </p:spPr>
      </p:pic>
      <p:sp>
        <p:nvSpPr>
          <p:cNvPr id="22" name="Text 27"/>
          <p:cNvSpPr txBox="1"/>
          <p:nvPr/>
        </p:nvSpPr>
        <p:spPr>
          <a:xfrm>
            <a:off x="5303520" y="3355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CPU, memory and I/O monitoring</a:t>
            </a:r>
            <a:endParaRPr lang="en-US" sz="1400" dirty="0"/>
          </a:p>
        </p:txBody>
      </p:sp>
      <p:sp>
        <p:nvSpPr>
          <p:cNvPr id="23" name="Card 28"/>
          <p:cNvSpPr/>
          <p:nvPr/>
        </p:nvSpPr>
        <p:spPr>
          <a:xfrm>
            <a:off x="4572000" y="4032504"/>
            <a:ext cx="411480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Badge 29"/>
          <p:cNvSpPr/>
          <p:nvPr/>
        </p:nvSpPr>
        <p:spPr>
          <a:xfrm>
            <a:off x="4709160" y="41148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30" descr="FaBe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215384"/>
            <a:ext cx="201168" cy="201168"/>
          </a:xfrm>
          <a:prstGeom prst="rect">
            <a:avLst/>
          </a:prstGeom>
        </p:spPr>
      </p:pic>
      <p:sp>
        <p:nvSpPr>
          <p:cNvPr id="26" name="Text 31"/>
          <p:cNvSpPr txBox="1"/>
          <p:nvPr/>
        </p:nvSpPr>
        <p:spPr>
          <a:xfrm>
            <a:off x="5303520" y="40325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Resource status and alerts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Card 32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3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 34" descr="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623060"/>
            <a:ext cx="228600" cy="228600"/>
          </a:xfrm>
          <a:prstGeom prst="rect">
            <a:avLst/>
          </a:prstGeom>
        </p:spPr>
      </p:pic>
      <p:sp>
        <p:nvSpPr>
          <p:cNvPr id="6" name="Text 35"/>
          <p:cNvSpPr txBox="1"/>
          <p:nvPr/>
        </p:nvSpPr>
        <p:spPr>
          <a:xfrm>
            <a:off x="128016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Problem</a:t>
            </a:r>
            <a:endParaRPr lang="en-US" sz="2200" dirty="0"/>
          </a:p>
        </p:txBody>
      </p:sp>
      <p:sp>
        <p:nvSpPr>
          <p:cNvPr id="7" name="Text 36"/>
          <p:cNvSpPr txBox="1"/>
          <p:nvPr/>
        </p:nvSpPr>
        <p:spPr>
          <a:xfrm>
            <a:off x="685800" y="21488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Traditional Linux commands provide individual resource information through separate utilities.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CPU, memory, process and I/O information are viewed separately.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There is limited customized analysis for a particular process.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Resource changes over time are not directly integrated into one monitoring application.</a:t>
            </a:r>
            <a:endParaRPr lang="en-US" sz="1400" dirty="0"/>
          </a:p>
        </p:txBody>
      </p:sp>
      <p:sp>
        <p:nvSpPr>
          <p:cNvPr id="8" name="Card 37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accent1"/>
          </a:solidFill>
          <a:ln/>
        </p:spPr>
      </p:sp>
      <p:sp>
        <p:nvSpPr>
          <p:cNvPr id="9" name="Badge 38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con 39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623060"/>
            <a:ext cx="228600" cy="228600"/>
          </a:xfrm>
          <a:prstGeom prst="rect">
            <a:avLst/>
          </a:prstGeom>
        </p:spPr>
      </p:pic>
      <p:sp>
        <p:nvSpPr>
          <p:cNvPr id="11" name="Text 40"/>
          <p:cNvSpPr txBox="1"/>
          <p:nvPr/>
        </p:nvSpPr>
        <p:spPr>
          <a:xfrm>
            <a:off x="548640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Proposed Solution</a:t>
            </a:r>
            <a:endParaRPr lang="en-US" sz="2200" dirty="0"/>
          </a:p>
        </p:txBody>
      </p:sp>
      <p:sp>
        <p:nvSpPr>
          <p:cNvPr id="12" name="Text 41"/>
          <p:cNvSpPr txBox="1"/>
          <p:nvPr/>
        </p:nvSpPr>
        <p:spPr>
          <a:xfrm>
            <a:off x="4892040" y="22402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Develop a single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Kernel Monitor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that collects kernel-level information and provides both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system overview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and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selected-process analysis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Card 42"/>
          <p:cNvSpPr/>
          <p:nvPr/>
        </p:nvSpPr>
        <p:spPr>
          <a:xfrm>
            <a:off x="457200" y="1325880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Number 43"/>
          <p:cNvSpPr/>
          <p:nvPr/>
        </p:nvSpPr>
        <p:spPr>
          <a:xfrm>
            <a:off x="640080" y="14813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44"/>
          <p:cNvSpPr txBox="1"/>
          <p:nvPr/>
        </p:nvSpPr>
        <p:spPr>
          <a:xfrm>
            <a:off x="1234440" y="1325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 overall system resource utilization.</a:t>
            </a:r>
            <a:endParaRPr lang="en-US" sz="1400" dirty="0"/>
          </a:p>
        </p:txBody>
      </p:sp>
      <p:sp>
        <p:nvSpPr>
          <p:cNvPr id="6" name="Card 45"/>
          <p:cNvSpPr/>
          <p:nvPr/>
        </p:nvSpPr>
        <p:spPr>
          <a:xfrm>
            <a:off x="457200" y="2167128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Number 46"/>
          <p:cNvSpPr/>
          <p:nvPr/>
        </p:nvSpPr>
        <p:spPr>
          <a:xfrm>
            <a:off x="640080" y="23225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47"/>
          <p:cNvSpPr txBox="1"/>
          <p:nvPr/>
        </p:nvSpPr>
        <p:spPr>
          <a:xfrm>
            <a:off x="1234440" y="21671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 the number of running processes.</a:t>
            </a:r>
            <a:endParaRPr lang="en-US" sz="1400" dirty="0"/>
          </a:p>
        </p:txBody>
      </p:sp>
      <p:sp>
        <p:nvSpPr>
          <p:cNvPr id="9" name="Card 48"/>
          <p:cNvSpPr/>
          <p:nvPr/>
        </p:nvSpPr>
        <p:spPr>
          <a:xfrm>
            <a:off x="457200" y="3008376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Number 49"/>
          <p:cNvSpPr/>
          <p:nvPr/>
        </p:nvSpPr>
        <p:spPr>
          <a:xfrm>
            <a:off x="640080" y="31638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50"/>
          <p:cNvSpPr txBox="1"/>
          <p:nvPr/>
        </p:nvSpPr>
        <p:spPr>
          <a:xfrm>
            <a:off x="1234440" y="300837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Allow the user to select a process using its PID.</a:t>
            </a:r>
            <a:endParaRPr lang="en-US" sz="1400" dirty="0"/>
          </a:p>
        </p:txBody>
      </p:sp>
      <p:sp>
        <p:nvSpPr>
          <p:cNvPr id="12" name="Card 51"/>
          <p:cNvSpPr/>
          <p:nvPr/>
        </p:nvSpPr>
        <p:spPr>
          <a:xfrm>
            <a:off x="457200" y="3849624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Number 52"/>
          <p:cNvSpPr/>
          <p:nvPr/>
        </p:nvSpPr>
        <p:spPr>
          <a:xfrm>
            <a:off x="640080" y="4005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53"/>
          <p:cNvSpPr txBox="1"/>
          <p:nvPr/>
        </p:nvSpPr>
        <p:spPr>
          <a:xfrm>
            <a:off x="1234440" y="384962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Analyze the selected process: CPU, memory and file/I-O activity.</a:t>
            </a:r>
            <a:endParaRPr lang="en-US" sz="1400" dirty="0"/>
          </a:p>
        </p:txBody>
      </p:sp>
      <p:sp>
        <p:nvSpPr>
          <p:cNvPr id="15" name="Card 54"/>
          <p:cNvSpPr/>
          <p:nvPr/>
        </p:nvSpPr>
        <p:spPr>
          <a:xfrm>
            <a:off x="4663440" y="1325880"/>
            <a:ext cx="4023360" cy="1012241"/>
          </a:xfrm>
          <a:prstGeom prst="roundRect">
            <a:avLst>
              <a:gd name="adj" fmla="val 90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Number 55"/>
          <p:cNvSpPr/>
          <p:nvPr/>
        </p:nvSpPr>
        <p:spPr>
          <a:xfrm>
            <a:off x="4846320" y="16216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56"/>
          <p:cNvSpPr txBox="1"/>
          <p:nvPr/>
        </p:nvSpPr>
        <p:spPr>
          <a:xfrm>
            <a:off x="5440680" y="1325880"/>
            <a:ext cx="3063240" cy="1012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 resource usage using consecutive samples.</a:t>
            </a:r>
            <a:endParaRPr lang="en-US" sz="1400" dirty="0"/>
          </a:p>
        </p:txBody>
      </p:sp>
      <p:sp>
        <p:nvSpPr>
          <p:cNvPr id="18" name="Card 57"/>
          <p:cNvSpPr/>
          <p:nvPr/>
        </p:nvSpPr>
        <p:spPr>
          <a:xfrm>
            <a:off x="4663440" y="2447849"/>
            <a:ext cx="4023360" cy="1012241"/>
          </a:xfrm>
          <a:prstGeom prst="roundRect">
            <a:avLst>
              <a:gd name="adj" fmla="val 90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Number 58"/>
          <p:cNvSpPr/>
          <p:nvPr/>
        </p:nvSpPr>
        <p:spPr>
          <a:xfrm>
            <a:off x="4846320" y="2743657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59"/>
          <p:cNvSpPr txBox="1"/>
          <p:nvPr/>
        </p:nvSpPr>
        <p:spPr>
          <a:xfrm>
            <a:off x="5440680" y="2447849"/>
            <a:ext cx="3063240" cy="1012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Classify resource conditions as Normal, Warning or Critical.</a:t>
            </a:r>
            <a:endParaRPr lang="en-US" sz="1400" dirty="0"/>
          </a:p>
        </p:txBody>
      </p:sp>
      <p:sp>
        <p:nvSpPr>
          <p:cNvPr id="21" name="Card 60"/>
          <p:cNvSpPr/>
          <p:nvPr/>
        </p:nvSpPr>
        <p:spPr>
          <a:xfrm>
            <a:off x="4663440" y="3569818"/>
            <a:ext cx="4023360" cy="1012241"/>
          </a:xfrm>
          <a:prstGeom prst="roundRect">
            <a:avLst>
              <a:gd name="adj" fmla="val 90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Number 61"/>
          <p:cNvSpPr/>
          <p:nvPr/>
        </p:nvSpPr>
        <p:spPr>
          <a:xfrm>
            <a:off x="4846320" y="386562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62"/>
          <p:cNvSpPr txBox="1"/>
          <p:nvPr/>
        </p:nvSpPr>
        <p:spPr>
          <a:xfrm>
            <a:off x="5440680" y="3569818"/>
            <a:ext cx="3063240" cy="1012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alerts for abnormal resource usage.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Card 63"/>
          <p:cNvSpPr/>
          <p:nvPr/>
        </p:nvSpPr>
        <p:spPr>
          <a:xfrm>
            <a:off x="457200" y="1280160"/>
            <a:ext cx="173736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Number 64"/>
          <p:cNvSpPr/>
          <p:nvPr/>
        </p:nvSpPr>
        <p:spPr>
          <a:xfrm>
            <a:off x="585216" y="1481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65"/>
          <p:cNvSpPr txBox="1"/>
          <p:nvPr/>
        </p:nvSpPr>
        <p:spPr>
          <a:xfrm>
            <a:off x="1024128" y="12801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</a:t>
            </a:r>
            <a:endParaRPr lang="en-US" sz="1400" dirty="0"/>
          </a:p>
        </p:txBody>
      </p:sp>
      <p:sp>
        <p:nvSpPr>
          <p:cNvPr id="6" name="Arrow 66"/>
          <p:cNvSpPr/>
          <p:nvPr/>
        </p:nvSpPr>
        <p:spPr>
          <a:xfrm>
            <a:off x="2258568" y="1645920"/>
            <a:ext cx="30175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Card 67"/>
          <p:cNvSpPr/>
          <p:nvPr/>
        </p:nvSpPr>
        <p:spPr>
          <a:xfrm>
            <a:off x="2621310" y="1280160"/>
            <a:ext cx="173736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</p:sp>
      <p:sp>
        <p:nvSpPr>
          <p:cNvPr id="8" name="Number 68"/>
          <p:cNvSpPr/>
          <p:nvPr/>
        </p:nvSpPr>
        <p:spPr>
          <a:xfrm>
            <a:off x="2749326" y="1481328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9"/>
          <p:cNvSpPr txBox="1"/>
          <p:nvPr/>
        </p:nvSpPr>
        <p:spPr>
          <a:xfrm>
            <a:off x="3188238" y="12801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Kernel Monitor</a:t>
            </a:r>
            <a:endParaRPr lang="en-US" sz="1400" dirty="0"/>
          </a:p>
        </p:txBody>
      </p:sp>
      <p:sp>
        <p:nvSpPr>
          <p:cNvPr id="10" name="Arrow 70"/>
          <p:cNvSpPr/>
          <p:nvPr/>
        </p:nvSpPr>
        <p:spPr>
          <a:xfrm>
            <a:off x="4422678" y="1645920"/>
            <a:ext cx="30175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Card 71"/>
          <p:cNvSpPr/>
          <p:nvPr/>
        </p:nvSpPr>
        <p:spPr>
          <a:xfrm>
            <a:off x="4785421" y="1280160"/>
            <a:ext cx="173736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Number 72"/>
          <p:cNvSpPr/>
          <p:nvPr/>
        </p:nvSpPr>
        <p:spPr>
          <a:xfrm>
            <a:off x="4913437" y="1481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73"/>
          <p:cNvSpPr txBox="1"/>
          <p:nvPr/>
        </p:nvSpPr>
        <p:spPr>
          <a:xfrm>
            <a:off x="5352349" y="12801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Linux /proc Filesystem</a:t>
            </a:r>
            <a:endParaRPr lang="en-US" sz="1400" dirty="0"/>
          </a:p>
        </p:txBody>
      </p:sp>
      <p:sp>
        <p:nvSpPr>
          <p:cNvPr id="14" name="Arrow 74"/>
          <p:cNvSpPr/>
          <p:nvPr/>
        </p:nvSpPr>
        <p:spPr>
          <a:xfrm>
            <a:off x="6586789" y="1645920"/>
            <a:ext cx="30175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Card 75"/>
          <p:cNvSpPr/>
          <p:nvPr/>
        </p:nvSpPr>
        <p:spPr>
          <a:xfrm>
            <a:off x="6949531" y="1280160"/>
            <a:ext cx="173736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Number 76"/>
          <p:cNvSpPr/>
          <p:nvPr/>
        </p:nvSpPr>
        <p:spPr>
          <a:xfrm>
            <a:off x="7077547" y="1481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77"/>
          <p:cNvSpPr txBox="1"/>
          <p:nvPr/>
        </p:nvSpPr>
        <p:spPr>
          <a:xfrm>
            <a:off x="7516459" y="12801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18" name="Card 78"/>
          <p:cNvSpPr/>
          <p:nvPr/>
        </p:nvSpPr>
        <p:spPr>
          <a:xfrm>
            <a:off x="457200" y="2240280"/>
            <a:ext cx="214884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Number 79"/>
          <p:cNvSpPr/>
          <p:nvPr/>
        </p:nvSpPr>
        <p:spPr>
          <a:xfrm>
            <a:off x="585216" y="25100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80"/>
          <p:cNvSpPr txBox="1"/>
          <p:nvPr/>
        </p:nvSpPr>
        <p:spPr>
          <a:xfrm>
            <a:off x="1024128" y="2240280"/>
            <a:ext cx="1490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Resource Calculations</a:t>
            </a:r>
            <a:endParaRPr lang="en-US" sz="1400" dirty="0"/>
          </a:p>
        </p:txBody>
      </p:sp>
      <p:sp>
        <p:nvSpPr>
          <p:cNvPr id="21" name="Arrow 81"/>
          <p:cNvSpPr/>
          <p:nvPr/>
        </p:nvSpPr>
        <p:spPr>
          <a:xfrm>
            <a:off x="2670048" y="2674620"/>
            <a:ext cx="28346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Card 82"/>
          <p:cNvSpPr/>
          <p:nvPr/>
        </p:nvSpPr>
        <p:spPr>
          <a:xfrm>
            <a:off x="3017520" y="224028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Number 83"/>
          <p:cNvSpPr/>
          <p:nvPr/>
        </p:nvSpPr>
        <p:spPr>
          <a:xfrm>
            <a:off x="3145536" y="25100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4" name="Text 84"/>
          <p:cNvSpPr txBox="1"/>
          <p:nvPr/>
        </p:nvSpPr>
        <p:spPr>
          <a:xfrm>
            <a:off x="3584448" y="224028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Overview + Selected Process Analysis</a:t>
            </a:r>
            <a:endParaRPr lang="en-US" sz="1400" dirty="0"/>
          </a:p>
        </p:txBody>
      </p:sp>
      <p:sp>
        <p:nvSpPr>
          <p:cNvPr id="25" name="Arrow 85"/>
          <p:cNvSpPr/>
          <p:nvPr/>
        </p:nvSpPr>
        <p:spPr>
          <a:xfrm>
            <a:off x="6190488" y="2674620"/>
            <a:ext cx="28346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Card 86"/>
          <p:cNvSpPr/>
          <p:nvPr/>
        </p:nvSpPr>
        <p:spPr>
          <a:xfrm>
            <a:off x="6537960" y="2240280"/>
            <a:ext cx="214884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Number 87"/>
          <p:cNvSpPr/>
          <p:nvPr/>
        </p:nvSpPr>
        <p:spPr>
          <a:xfrm>
            <a:off x="6665976" y="25100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8" name="Text 88"/>
          <p:cNvSpPr txBox="1"/>
          <p:nvPr/>
        </p:nvSpPr>
        <p:spPr>
          <a:xfrm>
            <a:off x="7104888" y="2240280"/>
            <a:ext cx="1490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Status / Alerts</a:t>
            </a:r>
            <a:endParaRPr lang="en-US" sz="1400" dirty="0"/>
          </a:p>
        </p:txBody>
      </p:sp>
      <p:sp>
        <p:nvSpPr>
          <p:cNvPr id="29" name="Text 89"/>
          <p:cNvSpPr txBox="1"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Main Components</a:t>
            </a:r>
            <a:endParaRPr lang="en-US" sz="1400" dirty="0"/>
          </a:p>
        </p:txBody>
      </p:sp>
      <p:sp>
        <p:nvSpPr>
          <p:cNvPr id="30" name="Card 90"/>
          <p:cNvSpPr/>
          <p:nvPr/>
        </p:nvSpPr>
        <p:spPr>
          <a:xfrm>
            <a:off x="457200" y="3657600"/>
            <a:ext cx="265176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1" name="Text 91"/>
          <p:cNvSpPr txBox="1"/>
          <p:nvPr/>
        </p:nvSpPr>
        <p:spPr>
          <a:xfrm>
            <a:off x="59436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System Monitor</a:t>
            </a:r>
            <a:endParaRPr lang="en-US" sz="1400" dirty="0"/>
          </a:p>
        </p:txBody>
      </p:sp>
      <p:sp>
        <p:nvSpPr>
          <p:cNvPr id="32" name="Card 92"/>
          <p:cNvSpPr/>
          <p:nvPr/>
        </p:nvSpPr>
        <p:spPr>
          <a:xfrm>
            <a:off x="3246120" y="3657600"/>
            <a:ext cx="265176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3" name="Text 93"/>
          <p:cNvSpPr txBox="1"/>
          <p:nvPr/>
        </p:nvSpPr>
        <p:spPr>
          <a:xfrm>
            <a:off x="338328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Process Monitor</a:t>
            </a:r>
            <a:endParaRPr lang="en-US" sz="1400" dirty="0"/>
          </a:p>
        </p:txBody>
      </p:sp>
      <p:sp>
        <p:nvSpPr>
          <p:cNvPr id="34" name="Card 94"/>
          <p:cNvSpPr/>
          <p:nvPr/>
        </p:nvSpPr>
        <p:spPr>
          <a:xfrm>
            <a:off x="6035040" y="3657600"/>
            <a:ext cx="265176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5" name="Text 95"/>
          <p:cNvSpPr txBox="1"/>
          <p:nvPr/>
        </p:nvSpPr>
        <p:spPr>
          <a:xfrm>
            <a:off x="61722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CPU Monitor</a:t>
            </a:r>
            <a:endParaRPr lang="en-US" sz="1400" dirty="0"/>
          </a:p>
        </p:txBody>
      </p:sp>
      <p:sp>
        <p:nvSpPr>
          <p:cNvPr id="36" name="Card 96"/>
          <p:cNvSpPr/>
          <p:nvPr/>
        </p:nvSpPr>
        <p:spPr>
          <a:xfrm>
            <a:off x="457200" y="4160520"/>
            <a:ext cx="265176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7" name="Text 97"/>
          <p:cNvSpPr txBox="1"/>
          <p:nvPr/>
        </p:nvSpPr>
        <p:spPr>
          <a:xfrm>
            <a:off x="59436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Memory Monitor</a:t>
            </a:r>
            <a:endParaRPr lang="en-US" sz="1400" dirty="0"/>
          </a:p>
        </p:txBody>
      </p:sp>
      <p:sp>
        <p:nvSpPr>
          <p:cNvPr id="38" name="Card 98"/>
          <p:cNvSpPr/>
          <p:nvPr/>
        </p:nvSpPr>
        <p:spPr>
          <a:xfrm>
            <a:off x="3246120" y="4160520"/>
            <a:ext cx="265176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9" name="Text 99"/>
          <p:cNvSpPr txBox="1"/>
          <p:nvPr/>
        </p:nvSpPr>
        <p:spPr>
          <a:xfrm>
            <a:off x="338328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I/O Monitor</a:t>
            </a:r>
            <a:endParaRPr lang="en-US" sz="1400" dirty="0"/>
          </a:p>
        </p:txBody>
      </p:sp>
      <p:sp>
        <p:nvSpPr>
          <p:cNvPr id="40" name="Card 100"/>
          <p:cNvSpPr/>
          <p:nvPr/>
        </p:nvSpPr>
        <p:spPr>
          <a:xfrm>
            <a:off x="6035040" y="4160520"/>
            <a:ext cx="265176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1" name="Text 101"/>
          <p:cNvSpPr txBox="1"/>
          <p:nvPr/>
        </p:nvSpPr>
        <p:spPr>
          <a:xfrm>
            <a:off x="617220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Analysis &amp; Alert Module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Linux Kernel Interface</a:t>
            </a:r>
            <a:endParaRPr lang="en-US" sz="3400" dirty="0"/>
          </a:p>
        </p:txBody>
      </p:sp>
      <p:sp>
        <p:nvSpPr>
          <p:cNvPr id="3" name="Text 102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monitor obtains information from the Linux virtual /proc filesystem.</a:t>
            </a:r>
            <a:endParaRPr lang="en-US" sz="1400" dirty="0"/>
          </a:p>
        </p:txBody>
      </p:sp>
      <p:graphicFrame>
        <p:nvGraphicFramePr>
          <p:cNvPr id="7" name="Interfa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94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Kernel Interface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Information Obtained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/proc/stat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System CPU statistics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/proc/meminfo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Memory information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/proc/diskstats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Disk I/O statistics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/proc/&lt;PID&gt;/status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Process name, state, memory, threads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/proc/&lt;PID&gt;/stat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Process CPU statistics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/proc/&lt;PID&gt;/io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Process read/write I/O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5" name="Card 103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6" name="Text 104"/>
          <p:cNvSpPr txBox="1"/>
          <p:nvPr/>
        </p:nvSpPr>
        <p:spPr>
          <a:xfrm>
            <a:off x="685800" y="40233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ext 105"/>
          <p:cNvSpPr txBox="1"/>
          <p:nvPr/>
        </p:nvSpPr>
        <p:spPr>
          <a:xfrm>
            <a:off x="1645920" y="40233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application does not depend only on ready-made monitoring commands. It directly reads information exposed by the Linux kernel.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Overview</a:t>
            </a:r>
            <a:endParaRPr lang="en-US" sz="3400" dirty="0"/>
          </a:p>
        </p:txBody>
      </p:sp>
      <p:sp>
        <p:nvSpPr>
          <p:cNvPr id="3" name="Card 106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107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108" descr="FaMicro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31620"/>
            <a:ext cx="228600" cy="228600"/>
          </a:xfrm>
          <a:prstGeom prst="rect">
            <a:avLst/>
          </a:prstGeom>
        </p:spPr>
      </p:pic>
      <p:sp>
        <p:nvSpPr>
          <p:cNvPr id="6" name="Text 109"/>
          <p:cNvSpPr txBox="1"/>
          <p:nvPr/>
        </p:nvSpPr>
        <p:spPr>
          <a:xfrm>
            <a:off x="59436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CPU utilization</a:t>
            </a:r>
            <a:endParaRPr lang="en-US" sz="1400" dirty="0"/>
          </a:p>
        </p:txBody>
      </p:sp>
      <p:sp>
        <p:nvSpPr>
          <p:cNvPr id="7" name="Card 110"/>
          <p:cNvSpPr/>
          <p:nvPr/>
        </p:nvSpPr>
        <p:spPr>
          <a:xfrm>
            <a:off x="256032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Badge 111"/>
          <p:cNvSpPr/>
          <p:nvPr/>
        </p:nvSpPr>
        <p:spPr>
          <a:xfrm>
            <a:off x="26974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112" descr="Fa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1531620"/>
            <a:ext cx="228600" cy="228600"/>
          </a:xfrm>
          <a:prstGeom prst="rect">
            <a:avLst/>
          </a:prstGeom>
        </p:spPr>
      </p:pic>
      <p:sp>
        <p:nvSpPr>
          <p:cNvPr id="10" name="Text 113"/>
          <p:cNvSpPr txBox="1"/>
          <p:nvPr/>
        </p:nvSpPr>
        <p:spPr>
          <a:xfrm>
            <a:off x="269748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memory utilization</a:t>
            </a:r>
            <a:endParaRPr lang="en-US" sz="1400" dirty="0"/>
          </a:p>
        </p:txBody>
      </p:sp>
      <p:sp>
        <p:nvSpPr>
          <p:cNvPr id="11" name="Card 114"/>
          <p:cNvSpPr/>
          <p:nvPr/>
        </p:nvSpPr>
        <p:spPr>
          <a:xfrm>
            <a:off x="466344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Badge 115"/>
          <p:cNvSpPr/>
          <p:nvPr/>
        </p:nvSpPr>
        <p:spPr>
          <a:xfrm>
            <a:off x="480060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116" descr="FaTas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531620"/>
            <a:ext cx="228600" cy="228600"/>
          </a:xfrm>
          <a:prstGeom prst="rect">
            <a:avLst/>
          </a:prstGeom>
        </p:spPr>
      </p:pic>
      <p:sp>
        <p:nvSpPr>
          <p:cNvPr id="14" name="Text 117"/>
          <p:cNvSpPr txBox="1"/>
          <p:nvPr/>
        </p:nvSpPr>
        <p:spPr>
          <a:xfrm>
            <a:off x="480060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Number of running processes</a:t>
            </a:r>
            <a:endParaRPr lang="en-US" sz="1400" dirty="0"/>
          </a:p>
        </p:txBody>
      </p:sp>
      <p:sp>
        <p:nvSpPr>
          <p:cNvPr id="15" name="Card 118"/>
          <p:cNvSpPr/>
          <p:nvPr/>
        </p:nvSpPr>
        <p:spPr>
          <a:xfrm>
            <a:off x="676656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Badge 119"/>
          <p:cNvSpPr/>
          <p:nvPr/>
        </p:nvSpPr>
        <p:spPr>
          <a:xfrm>
            <a:off x="69037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120" descr="FaTachometer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531620"/>
            <a:ext cx="228600" cy="228600"/>
          </a:xfrm>
          <a:prstGeom prst="rect">
            <a:avLst/>
          </a:prstGeom>
        </p:spPr>
      </p:pic>
      <p:sp>
        <p:nvSpPr>
          <p:cNvPr id="18" name="Text 121"/>
          <p:cNvSpPr txBox="1"/>
          <p:nvPr/>
        </p:nvSpPr>
        <p:spPr>
          <a:xfrm>
            <a:off x="690372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Resource status</a:t>
            </a:r>
            <a:endParaRPr lang="en-US" sz="1400" dirty="0"/>
          </a:p>
        </p:txBody>
      </p:sp>
      <p:sp>
        <p:nvSpPr>
          <p:cNvPr id="19" name="Card 122"/>
          <p:cNvSpPr/>
          <p:nvPr/>
        </p:nvSpPr>
        <p:spPr>
          <a:xfrm>
            <a:off x="1508760" y="260604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Badge 123"/>
          <p:cNvSpPr/>
          <p:nvPr/>
        </p:nvSpPr>
        <p:spPr>
          <a:xfrm>
            <a:off x="1645920" y="2743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 124" descr="FaArrowDow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220" y="2857500"/>
            <a:ext cx="228600" cy="228600"/>
          </a:xfrm>
          <a:prstGeom prst="rect">
            <a:avLst/>
          </a:prstGeom>
        </p:spPr>
      </p:pic>
      <p:sp>
        <p:nvSpPr>
          <p:cNvPr id="22" name="Text 125"/>
          <p:cNvSpPr txBox="1"/>
          <p:nvPr/>
        </p:nvSpPr>
        <p:spPr>
          <a:xfrm>
            <a:off x="164592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read activity</a:t>
            </a:r>
            <a:endParaRPr lang="en-US" sz="1400" dirty="0"/>
          </a:p>
        </p:txBody>
      </p:sp>
      <p:sp>
        <p:nvSpPr>
          <p:cNvPr id="23" name="Card 126"/>
          <p:cNvSpPr/>
          <p:nvPr/>
        </p:nvSpPr>
        <p:spPr>
          <a:xfrm>
            <a:off x="3611880" y="260604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Badge 127"/>
          <p:cNvSpPr/>
          <p:nvPr/>
        </p:nvSpPr>
        <p:spPr>
          <a:xfrm>
            <a:off x="3749040" y="2743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128" descr="FaArrow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3340" y="2857500"/>
            <a:ext cx="228600" cy="228600"/>
          </a:xfrm>
          <a:prstGeom prst="rect">
            <a:avLst/>
          </a:prstGeom>
        </p:spPr>
      </p:pic>
      <p:sp>
        <p:nvSpPr>
          <p:cNvPr id="26" name="Text 129"/>
          <p:cNvSpPr txBox="1"/>
          <p:nvPr/>
        </p:nvSpPr>
        <p:spPr>
          <a:xfrm>
            <a:off x="374904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write activity</a:t>
            </a:r>
            <a:endParaRPr lang="en-US" sz="1400" dirty="0"/>
          </a:p>
        </p:txBody>
      </p:sp>
      <p:sp>
        <p:nvSpPr>
          <p:cNvPr id="27" name="Card 130"/>
          <p:cNvSpPr/>
          <p:nvPr/>
        </p:nvSpPr>
        <p:spPr>
          <a:xfrm>
            <a:off x="5715000" y="260604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Badge 131"/>
          <p:cNvSpPr/>
          <p:nvPr/>
        </p:nvSpPr>
        <p:spPr>
          <a:xfrm>
            <a:off x="5852160" y="2743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 132" descr="FaExchange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6460" y="2857500"/>
            <a:ext cx="228600" cy="228600"/>
          </a:xfrm>
          <a:prstGeom prst="rect">
            <a:avLst/>
          </a:prstGeom>
        </p:spPr>
      </p:pic>
      <p:sp>
        <p:nvSpPr>
          <p:cNvPr id="30" name="Text 133"/>
          <p:cNvSpPr txBox="1"/>
          <p:nvPr/>
        </p:nvSpPr>
        <p:spPr>
          <a:xfrm>
            <a:off x="585216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system I/O activity</a:t>
            </a:r>
            <a:endParaRPr lang="en-US" sz="1400" dirty="0"/>
          </a:p>
        </p:txBody>
      </p:sp>
      <p:sp>
        <p:nvSpPr>
          <p:cNvPr id="31" name="Card 134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32" name="Text 135"/>
          <p:cNvSpPr txBox="1"/>
          <p:nvPr/>
        </p:nvSpPr>
        <p:spPr>
          <a:xfrm>
            <a:off x="685800" y="39776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PURPOSE</a:t>
            </a:r>
            <a:endParaRPr lang="en-US" sz="1200" dirty="0"/>
          </a:p>
        </p:txBody>
      </p:sp>
      <p:sp>
        <p:nvSpPr>
          <p:cNvPr id="33" name="Text 136"/>
          <p:cNvSpPr txBox="1"/>
          <p:nvPr/>
        </p:nvSpPr>
        <p:spPr>
          <a:xfrm>
            <a:off x="1645920" y="39776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Gives the user the current condition of the entire system before focusing on an individual process.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Process Selection</a:t>
            </a:r>
            <a:endParaRPr lang="en-US" sz="3400" dirty="0"/>
          </a:p>
        </p:txBody>
      </p:sp>
      <p:sp>
        <p:nvSpPr>
          <p:cNvPr id="3" name="Text 137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user selects a running process using its PID (Process ID).</a:t>
            </a:r>
            <a:endParaRPr lang="en-US" sz="1400" dirty="0"/>
          </a:p>
        </p:txBody>
      </p:sp>
      <p:sp>
        <p:nvSpPr>
          <p:cNvPr id="4" name="Card 138"/>
          <p:cNvSpPr/>
          <p:nvPr/>
        </p:nvSpPr>
        <p:spPr>
          <a:xfrm>
            <a:off x="457200" y="150876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Number 139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140"/>
          <p:cNvSpPr txBox="1"/>
          <p:nvPr/>
        </p:nvSpPr>
        <p:spPr>
          <a:xfrm>
            <a:off x="59436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Running program</a:t>
            </a:r>
            <a:endParaRPr lang="en-US" sz="1400" dirty="0"/>
          </a:p>
        </p:txBody>
      </p:sp>
      <p:sp>
        <p:nvSpPr>
          <p:cNvPr id="7" name="Arrow 141"/>
          <p:cNvSpPr/>
          <p:nvPr/>
        </p:nvSpPr>
        <p:spPr>
          <a:xfrm>
            <a:off x="1965960" y="2286000"/>
            <a:ext cx="137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Card 142"/>
          <p:cNvSpPr/>
          <p:nvPr/>
        </p:nvSpPr>
        <p:spPr>
          <a:xfrm>
            <a:off x="2148840" y="150876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Number 143"/>
          <p:cNvSpPr/>
          <p:nvPr/>
        </p:nvSpPr>
        <p:spPr>
          <a:xfrm>
            <a:off x="2286000" y="1645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144"/>
          <p:cNvSpPr txBox="1"/>
          <p:nvPr/>
        </p:nvSpPr>
        <p:spPr>
          <a:xfrm>
            <a:off x="228600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PID obtained</a:t>
            </a:r>
            <a:endParaRPr lang="en-US" sz="1400" dirty="0"/>
          </a:p>
        </p:txBody>
      </p:sp>
      <p:sp>
        <p:nvSpPr>
          <p:cNvPr id="11" name="Arrow 145"/>
          <p:cNvSpPr/>
          <p:nvPr/>
        </p:nvSpPr>
        <p:spPr>
          <a:xfrm>
            <a:off x="3657600" y="2286000"/>
            <a:ext cx="137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Card 146"/>
          <p:cNvSpPr/>
          <p:nvPr/>
        </p:nvSpPr>
        <p:spPr>
          <a:xfrm>
            <a:off x="3840480" y="150876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Number 147"/>
          <p:cNvSpPr/>
          <p:nvPr/>
        </p:nvSpPr>
        <p:spPr>
          <a:xfrm>
            <a:off x="3977640" y="1645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48"/>
          <p:cNvSpPr txBox="1"/>
          <p:nvPr/>
        </p:nvSpPr>
        <p:spPr>
          <a:xfrm>
            <a:off x="397764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PID entered into Kernel Monitor</a:t>
            </a:r>
            <a:endParaRPr lang="en-US" sz="1400" dirty="0"/>
          </a:p>
        </p:txBody>
      </p:sp>
      <p:sp>
        <p:nvSpPr>
          <p:cNvPr id="15" name="Arrow 149"/>
          <p:cNvSpPr/>
          <p:nvPr/>
        </p:nvSpPr>
        <p:spPr>
          <a:xfrm>
            <a:off x="5349240" y="2286000"/>
            <a:ext cx="137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Card 150"/>
          <p:cNvSpPr/>
          <p:nvPr/>
        </p:nvSpPr>
        <p:spPr>
          <a:xfrm>
            <a:off x="5532120" y="150876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Number 151"/>
          <p:cNvSpPr/>
          <p:nvPr/>
        </p:nvSpPr>
        <p:spPr>
          <a:xfrm>
            <a:off x="5669280" y="1645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2"/>
          <p:cNvSpPr txBox="1"/>
          <p:nvPr/>
        </p:nvSpPr>
        <p:spPr>
          <a:xfrm>
            <a:off x="56692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Process information collected</a:t>
            </a:r>
            <a:endParaRPr lang="en-US" sz="1400" dirty="0"/>
          </a:p>
        </p:txBody>
      </p:sp>
      <p:sp>
        <p:nvSpPr>
          <p:cNvPr id="19" name="Arrow 153"/>
          <p:cNvSpPr/>
          <p:nvPr/>
        </p:nvSpPr>
        <p:spPr>
          <a:xfrm>
            <a:off x="7040880" y="2286000"/>
            <a:ext cx="137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Card 154"/>
          <p:cNvSpPr/>
          <p:nvPr/>
        </p:nvSpPr>
        <p:spPr>
          <a:xfrm>
            <a:off x="7223760" y="150876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/>
        </p:spPr>
      </p:sp>
      <p:sp>
        <p:nvSpPr>
          <p:cNvPr id="21" name="Number 155"/>
          <p:cNvSpPr/>
          <p:nvPr/>
        </p:nvSpPr>
        <p:spPr>
          <a:xfrm>
            <a:off x="7360920" y="164592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56"/>
          <p:cNvSpPr txBox="1"/>
          <p:nvPr/>
        </p:nvSpPr>
        <p:spPr>
          <a:xfrm>
            <a:off x="736092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CPU + Memory + I/O analysis</a:t>
            </a:r>
            <a:endParaRPr lang="en-US" sz="1400" dirty="0"/>
          </a:p>
        </p:txBody>
      </p:sp>
      <p:sp>
        <p:nvSpPr>
          <p:cNvPr id="23" name="Card 157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Badge 158"/>
          <p:cNvSpPr/>
          <p:nvPr/>
        </p:nvSpPr>
        <p:spPr>
          <a:xfrm>
            <a:off x="685800" y="37216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 159" descr="FaCrosshai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835908"/>
            <a:ext cx="228600" cy="228600"/>
          </a:xfrm>
          <a:prstGeom prst="rect">
            <a:avLst/>
          </a:prstGeom>
        </p:spPr>
      </p:pic>
      <p:sp>
        <p:nvSpPr>
          <p:cNvPr id="26" name="Text 160"/>
          <p:cNvSpPr txBox="1"/>
          <p:nvPr/>
        </p:nvSpPr>
        <p:spPr>
          <a:xfrm>
            <a:off x="1325880" y="3429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Selected process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Monitored independently</a:t>
            </a:r>
            <a:endParaRPr lang="en-US" sz="1800" dirty="0"/>
          </a:p>
        </p:txBody>
      </p:sp>
      <p:sp>
        <p:nvSpPr>
          <p:cNvPr id="27" name="Card 161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Badge 162"/>
          <p:cNvSpPr/>
          <p:nvPr/>
        </p:nvSpPr>
        <p:spPr>
          <a:xfrm>
            <a:off x="4892040" y="37216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con 163" descr="Fa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3835908"/>
            <a:ext cx="228600" cy="228600"/>
          </a:xfrm>
          <a:prstGeom prst="rect">
            <a:avLst/>
          </a:prstGeom>
        </p:spPr>
      </p:pic>
      <p:sp>
        <p:nvSpPr>
          <p:cNvPr id="30" name="Text 164"/>
          <p:cNvSpPr txBox="1"/>
          <p:nvPr/>
        </p:nvSpPr>
        <p:spPr>
          <a:xfrm>
            <a:off x="5532120" y="3429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System-wide information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Continues to provide overall context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CPU Monitoring</a:t>
            </a:r>
            <a:endParaRPr lang="en-US" sz="3400" dirty="0"/>
          </a:p>
        </p:txBody>
      </p:sp>
      <p:sp>
        <p:nvSpPr>
          <p:cNvPr id="3" name="Card 165"/>
          <p:cNvSpPr/>
          <p:nvPr/>
        </p:nvSpPr>
        <p:spPr>
          <a:xfrm>
            <a:off x="457200" y="1325880"/>
            <a:ext cx="3931920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166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167" descr="FaMicro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623060"/>
            <a:ext cx="228600" cy="228600"/>
          </a:xfrm>
          <a:prstGeom prst="rect">
            <a:avLst/>
          </a:prstGeom>
        </p:spPr>
      </p:pic>
      <p:sp>
        <p:nvSpPr>
          <p:cNvPr id="6" name="Text 168"/>
          <p:cNvSpPr txBox="1"/>
          <p:nvPr/>
        </p:nvSpPr>
        <p:spPr>
          <a:xfrm>
            <a:off x="128016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System CPU</a:t>
            </a:r>
            <a:endParaRPr lang="en-US" sz="1800" dirty="0"/>
          </a:p>
        </p:txBody>
      </p:sp>
      <p:sp>
        <p:nvSpPr>
          <p:cNvPr id="7" name="Text 169"/>
          <p:cNvSpPr txBox="1"/>
          <p:nvPr/>
        </p:nvSpPr>
        <p:spPr>
          <a:xfrm>
            <a:off x="68580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/proc/stat</a:t>
            </a:r>
            <a:endParaRPr lang="en-US" sz="1200" dirty="0"/>
          </a:p>
        </p:txBody>
      </p:sp>
      <p:sp>
        <p:nvSpPr>
          <p:cNvPr id="8" name="Text 170"/>
          <p:cNvSpPr txBox="1"/>
          <p:nvPr/>
        </p:nvSpPr>
        <p:spPr>
          <a:xfrm>
            <a:off x="68580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CPU utilization is calculated by comparing consecutive CPU samples.</a:t>
            </a:r>
            <a:endParaRPr lang="en-US" sz="1400" dirty="0"/>
          </a:p>
        </p:txBody>
      </p:sp>
      <p:sp>
        <p:nvSpPr>
          <p:cNvPr id="9" name="Card 171"/>
          <p:cNvSpPr/>
          <p:nvPr/>
        </p:nvSpPr>
        <p:spPr>
          <a:xfrm>
            <a:off x="4754880" y="1325880"/>
            <a:ext cx="3931920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Badge 172"/>
          <p:cNvSpPr/>
          <p:nvPr/>
        </p:nvSpPr>
        <p:spPr>
          <a:xfrm>
            <a:off x="498348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173" descr="FaC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623060"/>
            <a:ext cx="228600" cy="228600"/>
          </a:xfrm>
          <a:prstGeom prst="rect">
            <a:avLst/>
          </a:prstGeom>
        </p:spPr>
      </p:pic>
      <p:sp>
        <p:nvSpPr>
          <p:cNvPr id="12" name="Text 174"/>
          <p:cNvSpPr txBox="1"/>
          <p:nvPr/>
        </p:nvSpPr>
        <p:spPr>
          <a:xfrm>
            <a:off x="55778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Selected Process CPU</a:t>
            </a:r>
            <a:endParaRPr lang="en-US" sz="1800" dirty="0"/>
          </a:p>
        </p:txBody>
      </p:sp>
      <p:sp>
        <p:nvSpPr>
          <p:cNvPr id="13" name="Text 175"/>
          <p:cNvSpPr txBox="1"/>
          <p:nvPr/>
        </p:nvSpPr>
        <p:spPr>
          <a:xfrm>
            <a:off x="498348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/proc/&lt;PID&gt;/stat</a:t>
            </a:r>
            <a:endParaRPr lang="en-US" sz="1200" dirty="0"/>
          </a:p>
        </p:txBody>
      </p:sp>
      <p:sp>
        <p:nvSpPr>
          <p:cNvPr id="14" name="Text 176"/>
          <p:cNvSpPr txBox="1"/>
          <p:nvPr/>
        </p:nvSpPr>
        <p:spPr>
          <a:xfrm>
            <a:off x="498348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CPU information is obtained using the selected process's kernel statistics.</a:t>
            </a:r>
            <a:endParaRPr lang="en-US" sz="1400" dirty="0"/>
          </a:p>
        </p:txBody>
      </p:sp>
      <p:sp>
        <p:nvSpPr>
          <p:cNvPr id="15" name="VS 177"/>
          <p:cNvSpPr/>
          <p:nvPr/>
        </p:nvSpPr>
        <p:spPr>
          <a:xfrm>
            <a:off x="4343400" y="196596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VS</a:t>
            </a:r>
            <a:endParaRPr lang="en-US" sz="1200" dirty="0"/>
          </a:p>
        </p:txBody>
      </p:sp>
      <p:sp>
        <p:nvSpPr>
          <p:cNvPr id="16" name="Text 178"/>
          <p:cNvSpPr txBox="1"/>
          <p:nvPr/>
        </p:nvSpPr>
        <p:spPr>
          <a:xfrm>
            <a:off x="45720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CPU ANALYSIS INCLUDES</a:t>
            </a:r>
            <a:endParaRPr lang="en-US" sz="1200" dirty="0"/>
          </a:p>
        </p:txBody>
      </p:sp>
      <p:sp>
        <p:nvSpPr>
          <p:cNvPr id="17" name="Card 179"/>
          <p:cNvSpPr/>
          <p:nvPr/>
        </p:nvSpPr>
        <p:spPr>
          <a:xfrm>
            <a:off x="457200" y="3657600"/>
            <a:ext cx="1956816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80"/>
          <p:cNvSpPr txBox="1"/>
          <p:nvPr/>
        </p:nvSpPr>
        <p:spPr>
          <a:xfrm>
            <a:off x="594360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CPU utilization</a:t>
            </a:r>
            <a:endParaRPr lang="en-US" sz="1400" dirty="0"/>
          </a:p>
        </p:txBody>
      </p:sp>
      <p:sp>
        <p:nvSpPr>
          <p:cNvPr id="19" name="Card 181"/>
          <p:cNvSpPr/>
          <p:nvPr/>
        </p:nvSpPr>
        <p:spPr>
          <a:xfrm>
            <a:off x="2551176" y="3657600"/>
            <a:ext cx="1956816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0" name="Text 182"/>
          <p:cNvSpPr txBox="1"/>
          <p:nvPr/>
        </p:nvSpPr>
        <p:spPr>
          <a:xfrm>
            <a:off x="2688336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Current CPU status</a:t>
            </a:r>
            <a:endParaRPr lang="en-US" sz="1400" dirty="0"/>
          </a:p>
        </p:txBody>
      </p:sp>
      <p:sp>
        <p:nvSpPr>
          <p:cNvPr id="21" name="Card 183"/>
          <p:cNvSpPr/>
          <p:nvPr/>
        </p:nvSpPr>
        <p:spPr>
          <a:xfrm>
            <a:off x="4645152" y="3657600"/>
            <a:ext cx="1956816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2" name="Text 184"/>
          <p:cNvSpPr txBox="1"/>
          <p:nvPr/>
        </p:nvSpPr>
        <p:spPr>
          <a:xfrm>
            <a:off x="4782312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CPU trend</a:t>
            </a:r>
            <a:endParaRPr lang="en-US" sz="1400" dirty="0"/>
          </a:p>
        </p:txBody>
      </p:sp>
      <p:sp>
        <p:nvSpPr>
          <p:cNvPr id="23" name="Card 185"/>
          <p:cNvSpPr/>
          <p:nvPr/>
        </p:nvSpPr>
        <p:spPr>
          <a:xfrm>
            <a:off x="6739128" y="3657600"/>
            <a:ext cx="1956816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4" name="Text 186"/>
          <p:cNvSpPr txBox="1"/>
          <p:nvPr/>
        </p:nvSpPr>
        <p:spPr>
          <a:xfrm>
            <a:off x="6876288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vs process CPU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Memory Monitoring</a:t>
            </a:r>
            <a:endParaRPr lang="en-US" sz="3400" dirty="0"/>
          </a:p>
        </p:txBody>
      </p:sp>
      <p:sp>
        <p:nvSpPr>
          <p:cNvPr id="3" name="Card 187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4" name="Text 188"/>
          <p:cNvSpPr txBox="1"/>
          <p:nvPr/>
        </p:nvSpPr>
        <p:spPr>
          <a:xfrm>
            <a:off x="457200" y="13533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SYSTEM MEMORY FORMULA</a:t>
            </a:r>
            <a:endParaRPr lang="en-US" sz="1000" dirty="0"/>
          </a:p>
        </p:txBody>
      </p:sp>
      <p:sp>
        <p:nvSpPr>
          <p:cNvPr id="5" name="Text 189"/>
          <p:cNvSpPr txBox="1"/>
          <p:nvPr/>
        </p:nvSpPr>
        <p:spPr>
          <a:xfrm>
            <a:off x="457200" y="1572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Memory Usage = Total Memory − Available Memory</a:t>
            </a:r>
            <a:endParaRPr lang="en-US" sz="2400" dirty="0"/>
          </a:p>
        </p:txBody>
      </p:sp>
      <p:sp>
        <p:nvSpPr>
          <p:cNvPr id="6" name="Card 190"/>
          <p:cNvSpPr/>
          <p:nvPr/>
        </p:nvSpPr>
        <p:spPr>
          <a:xfrm>
            <a:off x="457200" y="21945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Badge 191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192" descr="FaMem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46020"/>
            <a:ext cx="228600" cy="228600"/>
          </a:xfrm>
          <a:prstGeom prst="rect">
            <a:avLst/>
          </a:prstGeom>
        </p:spPr>
      </p:pic>
      <p:sp>
        <p:nvSpPr>
          <p:cNvPr id="9" name="Text 193"/>
          <p:cNvSpPr txBox="1"/>
          <p:nvPr/>
        </p:nvSpPr>
        <p:spPr>
          <a:xfrm>
            <a:off x="128016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System Memory</a:t>
            </a:r>
            <a:endParaRPr lang="en-US" sz="1800" dirty="0"/>
          </a:p>
        </p:txBody>
      </p:sp>
      <p:sp>
        <p:nvSpPr>
          <p:cNvPr id="10" name="Text 194"/>
          <p:cNvSpPr txBox="1"/>
          <p:nvPr/>
        </p:nvSpPr>
        <p:spPr>
          <a:xfrm>
            <a:off x="685800" y="2852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/proc/meminfo</a:t>
            </a:r>
            <a:endParaRPr lang="en-US" sz="1200" dirty="0"/>
          </a:p>
        </p:txBody>
      </p:sp>
      <p:sp>
        <p:nvSpPr>
          <p:cNvPr id="11" name="Text 195"/>
          <p:cNvSpPr txBox="1"/>
          <p:nvPr/>
        </p:nvSpPr>
        <p:spPr>
          <a:xfrm>
            <a:off x="685800" y="31272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Usage is converted to the corresponding utilization percentage.</a:t>
            </a:r>
            <a:endParaRPr lang="en-US" sz="1400" dirty="0"/>
          </a:p>
        </p:txBody>
      </p:sp>
      <p:sp>
        <p:nvSpPr>
          <p:cNvPr id="12" name="Card 196"/>
          <p:cNvSpPr/>
          <p:nvPr/>
        </p:nvSpPr>
        <p:spPr>
          <a:xfrm>
            <a:off x="4663440" y="21945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Badge 197"/>
          <p:cNvSpPr/>
          <p:nvPr/>
        </p:nvSpPr>
        <p:spPr>
          <a:xfrm>
            <a:off x="489204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198" descr="FaC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446020"/>
            <a:ext cx="228600" cy="228600"/>
          </a:xfrm>
          <a:prstGeom prst="rect">
            <a:avLst/>
          </a:prstGeom>
        </p:spPr>
      </p:pic>
      <p:sp>
        <p:nvSpPr>
          <p:cNvPr id="15" name="Text 199"/>
          <p:cNvSpPr txBox="1"/>
          <p:nvPr/>
        </p:nvSpPr>
        <p:spPr>
          <a:xfrm>
            <a:off x="548640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Process Memory</a:t>
            </a:r>
            <a:endParaRPr lang="en-US" sz="1800" dirty="0"/>
          </a:p>
        </p:txBody>
      </p:sp>
      <p:sp>
        <p:nvSpPr>
          <p:cNvPr id="16" name="Text 200"/>
          <p:cNvSpPr txBox="1"/>
          <p:nvPr/>
        </p:nvSpPr>
        <p:spPr>
          <a:xfrm>
            <a:off x="4892040" y="2852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/proc/&lt;PID&gt;/status</a:t>
            </a:r>
            <a:endParaRPr lang="en-US" sz="1200" dirty="0"/>
          </a:p>
        </p:txBody>
      </p:sp>
      <p:sp>
        <p:nvSpPr>
          <p:cNvPr id="17" name="Text 201"/>
          <p:cNvSpPr txBox="1"/>
          <p:nvPr/>
        </p:nvSpPr>
        <p:spPr>
          <a:xfrm>
            <a:off x="4892040" y="31272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selected process's memory usage is read from its status information.</a:t>
            </a:r>
            <a:endParaRPr lang="en-US" sz="1400" dirty="0"/>
          </a:p>
        </p:txBody>
      </p:sp>
      <p:sp>
        <p:nvSpPr>
          <p:cNvPr id="18" name="Text 202"/>
          <p:cNvSpPr txBox="1"/>
          <p:nvPr/>
        </p:nvSpPr>
        <p:spPr>
          <a:xfrm>
            <a:off x="457200" y="3840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MEMORY ANALYSIS</a:t>
            </a:r>
            <a:endParaRPr lang="en-US" sz="1200" dirty="0"/>
          </a:p>
        </p:txBody>
      </p:sp>
      <p:sp>
        <p:nvSpPr>
          <p:cNvPr id="19" name="Card 203"/>
          <p:cNvSpPr/>
          <p:nvPr/>
        </p:nvSpPr>
        <p:spPr>
          <a:xfrm>
            <a:off x="457200" y="4096512"/>
            <a:ext cx="1956816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0" name="Text 204"/>
          <p:cNvSpPr txBox="1"/>
          <p:nvPr/>
        </p:nvSpPr>
        <p:spPr>
          <a:xfrm>
            <a:off x="594360" y="4096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memory usage</a:t>
            </a:r>
            <a:endParaRPr lang="en-US" sz="1400" dirty="0"/>
          </a:p>
        </p:txBody>
      </p:sp>
      <p:sp>
        <p:nvSpPr>
          <p:cNvPr id="21" name="Card 205"/>
          <p:cNvSpPr/>
          <p:nvPr/>
        </p:nvSpPr>
        <p:spPr>
          <a:xfrm>
            <a:off x="2551176" y="4096512"/>
            <a:ext cx="1956816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2" name="Text 206"/>
          <p:cNvSpPr txBox="1"/>
          <p:nvPr/>
        </p:nvSpPr>
        <p:spPr>
          <a:xfrm>
            <a:off x="2688336" y="4096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Process memory usage</a:t>
            </a:r>
            <a:endParaRPr lang="en-US" sz="1400" dirty="0"/>
          </a:p>
        </p:txBody>
      </p:sp>
      <p:sp>
        <p:nvSpPr>
          <p:cNvPr id="23" name="Card 207"/>
          <p:cNvSpPr/>
          <p:nvPr/>
        </p:nvSpPr>
        <p:spPr>
          <a:xfrm>
            <a:off x="4645152" y="4096512"/>
            <a:ext cx="1956816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4" name="Text 208"/>
          <p:cNvSpPr txBox="1"/>
          <p:nvPr/>
        </p:nvSpPr>
        <p:spPr>
          <a:xfrm>
            <a:off x="4782312" y="4096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Change between samples</a:t>
            </a:r>
            <a:endParaRPr lang="en-US" sz="1400" dirty="0"/>
          </a:p>
        </p:txBody>
      </p:sp>
      <p:sp>
        <p:nvSpPr>
          <p:cNvPr id="25" name="Card 209"/>
          <p:cNvSpPr/>
          <p:nvPr/>
        </p:nvSpPr>
        <p:spPr>
          <a:xfrm>
            <a:off x="6739128" y="4096512"/>
            <a:ext cx="1956816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6" name="Text 210"/>
          <p:cNvSpPr txBox="1"/>
          <p:nvPr/>
        </p:nvSpPr>
        <p:spPr>
          <a:xfrm>
            <a:off x="6876288" y="4096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Memory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I/O Monitoring</a:t>
            </a:r>
            <a:endParaRPr lang="en-US" sz="3400" dirty="0"/>
          </a:p>
        </p:txBody>
      </p:sp>
      <p:sp>
        <p:nvSpPr>
          <p:cNvPr id="3" name="Card 211"/>
          <p:cNvSpPr/>
          <p:nvPr/>
        </p:nvSpPr>
        <p:spPr>
          <a:xfrm>
            <a:off x="457200" y="128016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21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213" descr="FaHd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228600" cy="228600"/>
          </a:xfrm>
          <a:prstGeom prst="rect">
            <a:avLst/>
          </a:prstGeom>
        </p:spPr>
      </p:pic>
      <p:sp>
        <p:nvSpPr>
          <p:cNvPr id="6" name="Text 214"/>
          <p:cNvSpPr txBox="1"/>
          <p:nvPr/>
        </p:nvSpPr>
        <p:spPr>
          <a:xfrm>
            <a:off x="128016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System I/O</a:t>
            </a:r>
            <a:endParaRPr lang="en-US" sz="1800" dirty="0"/>
          </a:p>
        </p:txBody>
      </p:sp>
      <p:sp>
        <p:nvSpPr>
          <p:cNvPr id="7" name="Text 215"/>
          <p:cNvSpPr txBox="1"/>
          <p:nvPr/>
        </p:nvSpPr>
        <p:spPr>
          <a:xfrm>
            <a:off x="685800" y="1993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/proc/diskstats</a:t>
            </a:r>
            <a:endParaRPr lang="en-US" sz="1200" dirty="0"/>
          </a:p>
        </p:txBody>
      </p:sp>
      <p:sp>
        <p:nvSpPr>
          <p:cNvPr id="8" name="Text 216"/>
          <p:cNvSpPr txBox="1"/>
          <p:nvPr/>
        </p:nvSpPr>
        <p:spPr>
          <a:xfrm>
            <a:off x="68580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Disk statistics for the system.</a:t>
            </a:r>
            <a:endParaRPr lang="en-US" sz="1400" dirty="0"/>
          </a:p>
        </p:txBody>
      </p:sp>
      <p:sp>
        <p:nvSpPr>
          <p:cNvPr id="9" name="Card 217"/>
          <p:cNvSpPr/>
          <p:nvPr/>
        </p:nvSpPr>
        <p:spPr>
          <a:xfrm>
            <a:off x="457200" y="265176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Badge 218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219" descr="FaFolder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948940"/>
            <a:ext cx="228600" cy="228600"/>
          </a:xfrm>
          <a:prstGeom prst="rect">
            <a:avLst/>
          </a:prstGeom>
        </p:spPr>
      </p:pic>
      <p:sp>
        <p:nvSpPr>
          <p:cNvPr id="12" name="Text 220"/>
          <p:cNvSpPr txBox="1"/>
          <p:nvPr/>
        </p:nvSpPr>
        <p:spPr>
          <a:xfrm>
            <a:off x="128016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Process I/O</a:t>
            </a:r>
            <a:endParaRPr lang="en-US" sz="1800" dirty="0"/>
          </a:p>
        </p:txBody>
      </p:sp>
      <p:sp>
        <p:nvSpPr>
          <p:cNvPr id="13" name="Text 221"/>
          <p:cNvSpPr txBox="1"/>
          <p:nvPr/>
        </p:nvSpPr>
        <p:spPr>
          <a:xfrm>
            <a:off x="685800" y="3364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/proc/&lt;PID&gt;/io</a:t>
            </a:r>
            <a:endParaRPr lang="en-US" sz="1200" dirty="0"/>
          </a:p>
        </p:txBody>
      </p:sp>
      <p:sp>
        <p:nvSpPr>
          <p:cNvPr id="14" name="Text 222"/>
          <p:cNvSpPr txBox="1"/>
          <p:nvPr/>
        </p:nvSpPr>
        <p:spPr>
          <a:xfrm>
            <a:off x="68580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write activity of the selected process.</a:t>
            </a:r>
            <a:endParaRPr lang="en-US" sz="1400" dirty="0"/>
          </a:p>
        </p:txBody>
      </p:sp>
      <p:sp>
        <p:nvSpPr>
          <p:cNvPr id="15" name="Card 223"/>
          <p:cNvSpPr/>
          <p:nvPr/>
        </p:nvSpPr>
        <p:spPr>
          <a:xfrm>
            <a:off x="4663440" y="128016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Badge 224"/>
          <p:cNvSpPr/>
          <p:nvPr/>
        </p:nvSpPr>
        <p:spPr>
          <a:xfrm>
            <a:off x="480060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 225" descr="FaBook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577340"/>
            <a:ext cx="228600" cy="228600"/>
          </a:xfrm>
          <a:prstGeom prst="rect">
            <a:avLst/>
          </a:prstGeom>
        </p:spPr>
      </p:pic>
      <p:sp>
        <p:nvSpPr>
          <p:cNvPr id="18" name="Text 226"/>
          <p:cNvSpPr txBox="1"/>
          <p:nvPr/>
        </p:nvSpPr>
        <p:spPr>
          <a:xfrm>
            <a:off x="480060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rate</a:t>
            </a:r>
            <a:endParaRPr lang="en-US" sz="1400" dirty="0"/>
          </a:p>
        </p:txBody>
      </p:sp>
      <p:sp>
        <p:nvSpPr>
          <p:cNvPr id="19" name="Card 227"/>
          <p:cNvSpPr/>
          <p:nvPr/>
        </p:nvSpPr>
        <p:spPr>
          <a:xfrm>
            <a:off x="6766560" y="128016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Badge 228"/>
          <p:cNvSpPr/>
          <p:nvPr/>
        </p:nvSpPr>
        <p:spPr>
          <a:xfrm>
            <a:off x="690372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 229" descr="Fa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577340"/>
            <a:ext cx="228600" cy="228600"/>
          </a:xfrm>
          <a:prstGeom prst="rect">
            <a:avLst/>
          </a:prstGeom>
        </p:spPr>
      </p:pic>
      <p:sp>
        <p:nvSpPr>
          <p:cNvPr id="22" name="Text 230"/>
          <p:cNvSpPr txBox="1"/>
          <p:nvPr/>
        </p:nvSpPr>
        <p:spPr>
          <a:xfrm>
            <a:off x="690372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 rate</a:t>
            </a:r>
            <a:endParaRPr lang="en-US" sz="1400" dirty="0"/>
          </a:p>
        </p:txBody>
      </p:sp>
      <p:sp>
        <p:nvSpPr>
          <p:cNvPr id="23" name="Card 231"/>
          <p:cNvSpPr/>
          <p:nvPr/>
        </p:nvSpPr>
        <p:spPr>
          <a:xfrm>
            <a:off x="4663440" y="265176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Badge 232"/>
          <p:cNvSpPr/>
          <p:nvPr/>
        </p:nvSpPr>
        <p:spPr>
          <a:xfrm>
            <a:off x="4800600" y="2834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 233" descr="FaExchange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2948940"/>
            <a:ext cx="228600" cy="228600"/>
          </a:xfrm>
          <a:prstGeom prst="rect">
            <a:avLst/>
          </a:prstGeom>
        </p:spPr>
      </p:pic>
      <p:sp>
        <p:nvSpPr>
          <p:cNvPr id="26" name="Text 234"/>
          <p:cNvSpPr txBox="1"/>
          <p:nvPr/>
        </p:nvSpPr>
        <p:spPr>
          <a:xfrm>
            <a:off x="480060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I/O rate</a:t>
            </a:r>
            <a:endParaRPr lang="en-US" sz="1400" dirty="0"/>
          </a:p>
        </p:txBody>
      </p:sp>
      <p:sp>
        <p:nvSpPr>
          <p:cNvPr id="27" name="Card 235"/>
          <p:cNvSpPr/>
          <p:nvPr/>
        </p:nvSpPr>
        <p:spPr>
          <a:xfrm>
            <a:off x="6766560" y="265176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Badge 236"/>
          <p:cNvSpPr/>
          <p:nvPr/>
        </p:nvSpPr>
        <p:spPr>
          <a:xfrm>
            <a:off x="6903720" y="2834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con 237" descr="FaTachometer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948940"/>
            <a:ext cx="228600" cy="228600"/>
          </a:xfrm>
          <a:prstGeom prst="rect">
            <a:avLst/>
          </a:prstGeom>
        </p:spPr>
      </p:pic>
      <p:sp>
        <p:nvSpPr>
          <p:cNvPr id="30" name="Text 238"/>
          <p:cNvSpPr txBox="1"/>
          <p:nvPr/>
        </p:nvSpPr>
        <p:spPr>
          <a:xfrm>
            <a:off x="690372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I/O status</a:t>
            </a:r>
            <a:endParaRPr lang="en-US" sz="1400" dirty="0"/>
          </a:p>
        </p:txBody>
      </p:sp>
      <p:sp>
        <p:nvSpPr>
          <p:cNvPr id="31" name="Card 239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32" name="Text 240"/>
          <p:cNvSpPr txBox="1"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I/O rates are calculated by comparing consecutive cumulative I/O values.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Sampling and Calculation</a:t>
            </a:r>
            <a:endParaRPr lang="en-US" sz="3400" dirty="0"/>
          </a:p>
        </p:txBody>
      </p:sp>
      <p:sp>
        <p:nvSpPr>
          <p:cNvPr id="3" name="Text 24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Multiple samples are used instead of relying on a single reading.</a:t>
            </a:r>
            <a:endParaRPr lang="en-US" sz="1400" dirty="0"/>
          </a:p>
        </p:txBody>
      </p:sp>
      <p:sp>
        <p:nvSpPr>
          <p:cNvPr id="4" name="Card 242"/>
          <p:cNvSpPr/>
          <p:nvPr/>
        </p:nvSpPr>
        <p:spPr>
          <a:xfrm>
            <a:off x="457200" y="1508760"/>
            <a:ext cx="1188720" cy="132588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5" name="Number 243"/>
          <p:cNvSpPr/>
          <p:nvPr/>
        </p:nvSpPr>
        <p:spPr>
          <a:xfrm>
            <a:off x="566928" y="1618488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244"/>
          <p:cNvSpPr txBox="1"/>
          <p:nvPr/>
        </p:nvSpPr>
        <p:spPr>
          <a:xfrm>
            <a:off x="566928" y="2011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Baseline Sample</a:t>
            </a:r>
            <a:endParaRPr lang="en-US" sz="1400" dirty="0"/>
          </a:p>
        </p:txBody>
      </p:sp>
      <p:sp>
        <p:nvSpPr>
          <p:cNvPr id="7" name="Arrow 245"/>
          <p:cNvSpPr/>
          <p:nvPr/>
        </p:nvSpPr>
        <p:spPr>
          <a:xfrm>
            <a:off x="1673352" y="2176272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Card 246"/>
          <p:cNvSpPr/>
          <p:nvPr/>
        </p:nvSpPr>
        <p:spPr>
          <a:xfrm>
            <a:off x="1865376" y="1508760"/>
            <a:ext cx="1188720" cy="132588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9" name="Number 247"/>
          <p:cNvSpPr/>
          <p:nvPr/>
        </p:nvSpPr>
        <p:spPr>
          <a:xfrm>
            <a:off x="1975104" y="1618488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248"/>
          <p:cNvSpPr txBox="1"/>
          <p:nvPr/>
        </p:nvSpPr>
        <p:spPr>
          <a:xfrm>
            <a:off x="1975104" y="2011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Wait / Sampling Interval</a:t>
            </a:r>
            <a:endParaRPr lang="en-US" sz="1400" dirty="0"/>
          </a:p>
        </p:txBody>
      </p:sp>
      <p:sp>
        <p:nvSpPr>
          <p:cNvPr id="11" name="Arrow 249"/>
          <p:cNvSpPr/>
          <p:nvPr/>
        </p:nvSpPr>
        <p:spPr>
          <a:xfrm>
            <a:off x="3081528" y="2176272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Card 250"/>
          <p:cNvSpPr/>
          <p:nvPr/>
        </p:nvSpPr>
        <p:spPr>
          <a:xfrm>
            <a:off x="3273552" y="1508760"/>
            <a:ext cx="1188720" cy="132588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3" name="Number 251"/>
          <p:cNvSpPr/>
          <p:nvPr/>
        </p:nvSpPr>
        <p:spPr>
          <a:xfrm>
            <a:off x="3383280" y="1618488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252"/>
          <p:cNvSpPr txBox="1"/>
          <p:nvPr/>
        </p:nvSpPr>
        <p:spPr>
          <a:xfrm>
            <a:off x="3383280" y="2011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Second Sample</a:t>
            </a:r>
            <a:endParaRPr lang="en-US" sz="1400" dirty="0"/>
          </a:p>
        </p:txBody>
      </p:sp>
      <p:sp>
        <p:nvSpPr>
          <p:cNvPr id="15" name="Arrow 253"/>
          <p:cNvSpPr/>
          <p:nvPr/>
        </p:nvSpPr>
        <p:spPr>
          <a:xfrm>
            <a:off x="4489704" y="2176272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Card 254"/>
          <p:cNvSpPr/>
          <p:nvPr/>
        </p:nvSpPr>
        <p:spPr>
          <a:xfrm>
            <a:off x="4681728" y="1508760"/>
            <a:ext cx="1188720" cy="132588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7" name="Number 255"/>
          <p:cNvSpPr/>
          <p:nvPr/>
        </p:nvSpPr>
        <p:spPr>
          <a:xfrm>
            <a:off x="4791456" y="1618488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256"/>
          <p:cNvSpPr txBox="1"/>
          <p:nvPr/>
        </p:nvSpPr>
        <p:spPr>
          <a:xfrm>
            <a:off x="4791456" y="2011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Calculate Difference</a:t>
            </a:r>
            <a:endParaRPr lang="en-US" sz="1400" dirty="0"/>
          </a:p>
        </p:txBody>
      </p:sp>
      <p:sp>
        <p:nvSpPr>
          <p:cNvPr id="19" name="Arrow 257"/>
          <p:cNvSpPr/>
          <p:nvPr/>
        </p:nvSpPr>
        <p:spPr>
          <a:xfrm>
            <a:off x="5897880" y="2176272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Card 258"/>
          <p:cNvSpPr/>
          <p:nvPr/>
        </p:nvSpPr>
        <p:spPr>
          <a:xfrm>
            <a:off x="6089904" y="1508760"/>
            <a:ext cx="1188720" cy="132588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21" name="Number 259"/>
          <p:cNvSpPr/>
          <p:nvPr/>
        </p:nvSpPr>
        <p:spPr>
          <a:xfrm>
            <a:off x="6199632" y="1618488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60"/>
          <p:cNvSpPr txBox="1"/>
          <p:nvPr/>
        </p:nvSpPr>
        <p:spPr>
          <a:xfrm>
            <a:off x="6199632" y="2011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Determine Resource Usage</a:t>
            </a:r>
            <a:endParaRPr lang="en-US" sz="1400" dirty="0"/>
          </a:p>
        </p:txBody>
      </p:sp>
      <p:sp>
        <p:nvSpPr>
          <p:cNvPr id="23" name="Arrow 261"/>
          <p:cNvSpPr/>
          <p:nvPr/>
        </p:nvSpPr>
        <p:spPr>
          <a:xfrm>
            <a:off x="7306056" y="2176272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Card 262"/>
          <p:cNvSpPr/>
          <p:nvPr/>
        </p:nvSpPr>
        <p:spPr>
          <a:xfrm>
            <a:off x="7498080" y="1508760"/>
            <a:ext cx="1188720" cy="132588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25" name="Number 263"/>
          <p:cNvSpPr/>
          <p:nvPr/>
        </p:nvSpPr>
        <p:spPr>
          <a:xfrm>
            <a:off x="7607808" y="1618488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64"/>
          <p:cNvSpPr txBox="1"/>
          <p:nvPr/>
        </p:nvSpPr>
        <p:spPr>
          <a:xfrm>
            <a:off x="7607808" y="2011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Display Result</a:t>
            </a:r>
            <a:endParaRPr lang="en-US" sz="1400" dirty="0"/>
          </a:p>
        </p:txBody>
      </p:sp>
      <p:sp>
        <p:nvSpPr>
          <p:cNvPr id="27" name="Text 265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This approach allows the monitor to calculate:</a:t>
            </a:r>
            <a:endParaRPr lang="en-US" sz="1400" dirty="0"/>
          </a:p>
        </p:txBody>
      </p:sp>
      <p:sp>
        <p:nvSpPr>
          <p:cNvPr id="28" name="Card 266"/>
          <p:cNvSpPr/>
          <p:nvPr/>
        </p:nvSpPr>
        <p:spPr>
          <a:xfrm>
            <a:off x="457200" y="3474720"/>
            <a:ext cx="1956816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29" name="Badge 267"/>
          <p:cNvSpPr/>
          <p:nvPr/>
        </p:nvSpPr>
        <p:spPr>
          <a:xfrm>
            <a:off x="594360" y="368046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con 268" descr="FaMicro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71900"/>
            <a:ext cx="182880" cy="182880"/>
          </a:xfrm>
          <a:prstGeom prst="rect">
            <a:avLst/>
          </a:prstGeom>
        </p:spPr>
      </p:pic>
      <p:sp>
        <p:nvSpPr>
          <p:cNvPr id="31" name="Text 269"/>
          <p:cNvSpPr txBox="1"/>
          <p:nvPr/>
        </p:nvSpPr>
        <p:spPr>
          <a:xfrm>
            <a:off x="1097280" y="3474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CPU utilization</a:t>
            </a:r>
            <a:endParaRPr lang="en-US" sz="1400" dirty="0"/>
          </a:p>
        </p:txBody>
      </p:sp>
      <p:sp>
        <p:nvSpPr>
          <p:cNvPr id="32" name="Card 270"/>
          <p:cNvSpPr/>
          <p:nvPr/>
        </p:nvSpPr>
        <p:spPr>
          <a:xfrm>
            <a:off x="2551176" y="3474720"/>
            <a:ext cx="1956816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33" name="Badge 271"/>
          <p:cNvSpPr/>
          <p:nvPr/>
        </p:nvSpPr>
        <p:spPr>
          <a:xfrm>
            <a:off x="2688336" y="368046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4" name="Icon 272" descr="FaExchang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3771900"/>
            <a:ext cx="182880" cy="182880"/>
          </a:xfrm>
          <a:prstGeom prst="rect">
            <a:avLst/>
          </a:prstGeom>
        </p:spPr>
      </p:pic>
      <p:sp>
        <p:nvSpPr>
          <p:cNvPr id="35" name="Text 273"/>
          <p:cNvSpPr txBox="1"/>
          <p:nvPr/>
        </p:nvSpPr>
        <p:spPr>
          <a:xfrm>
            <a:off x="3191256" y="3474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Read/write rate</a:t>
            </a:r>
            <a:endParaRPr lang="en-US" sz="1400" dirty="0"/>
          </a:p>
        </p:txBody>
      </p:sp>
      <p:sp>
        <p:nvSpPr>
          <p:cNvPr id="36" name="Card 274"/>
          <p:cNvSpPr/>
          <p:nvPr/>
        </p:nvSpPr>
        <p:spPr>
          <a:xfrm>
            <a:off x="4645152" y="3474720"/>
            <a:ext cx="1956816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37" name="Badge 275"/>
          <p:cNvSpPr/>
          <p:nvPr/>
        </p:nvSpPr>
        <p:spPr>
          <a:xfrm>
            <a:off x="4782312" y="368046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8" name="Icon 276" descr="FaSync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3771900"/>
            <a:ext cx="182880" cy="182880"/>
          </a:xfrm>
          <a:prstGeom prst="rect">
            <a:avLst/>
          </a:prstGeom>
        </p:spPr>
      </p:pic>
      <p:sp>
        <p:nvSpPr>
          <p:cNvPr id="39" name="Text 277"/>
          <p:cNvSpPr txBox="1"/>
          <p:nvPr/>
        </p:nvSpPr>
        <p:spPr>
          <a:xfrm>
            <a:off x="5285232" y="3474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Resource changes</a:t>
            </a:r>
            <a:endParaRPr lang="en-US" sz="1400" dirty="0"/>
          </a:p>
        </p:txBody>
      </p:sp>
      <p:sp>
        <p:nvSpPr>
          <p:cNvPr id="40" name="Card 278"/>
          <p:cNvSpPr/>
          <p:nvPr/>
        </p:nvSpPr>
        <p:spPr>
          <a:xfrm>
            <a:off x="6739128" y="3474720"/>
            <a:ext cx="1956816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41" name="Badge 279"/>
          <p:cNvSpPr/>
          <p:nvPr/>
        </p:nvSpPr>
        <p:spPr>
          <a:xfrm>
            <a:off x="6876288" y="368046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2" name="Icon 280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771900"/>
            <a:ext cx="182880" cy="182880"/>
          </a:xfrm>
          <a:prstGeom prst="rect">
            <a:avLst/>
          </a:prstGeom>
        </p:spPr>
      </p:pic>
      <p:sp>
        <p:nvSpPr>
          <p:cNvPr id="43" name="Text 281"/>
          <p:cNvSpPr txBox="1"/>
          <p:nvPr/>
        </p:nvSpPr>
        <p:spPr>
          <a:xfrm>
            <a:off x="7379208" y="3474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Trends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Analysis &amp; Status</a:t>
            </a:r>
            <a:endParaRPr lang="en-US" sz="3400" dirty="0"/>
          </a:p>
        </p:txBody>
      </p:sp>
      <p:sp>
        <p:nvSpPr>
          <p:cNvPr id="3" name="Card 282"/>
          <p:cNvSpPr/>
          <p:nvPr/>
        </p:nvSpPr>
        <p:spPr>
          <a:xfrm>
            <a:off x="457200" y="1325880"/>
            <a:ext cx="256032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283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284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6" name="Text 285"/>
          <p:cNvSpPr txBox="1"/>
          <p:nvPr/>
        </p:nvSpPr>
        <p:spPr>
          <a:xfrm>
            <a:off x="73152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NORMAL</a:t>
            </a:r>
            <a:endParaRPr lang="en-US" sz="2200" dirty="0"/>
          </a:p>
        </p:txBody>
      </p:sp>
      <p:sp>
        <p:nvSpPr>
          <p:cNvPr id="7" name="Text 286"/>
          <p:cNvSpPr txBox="1"/>
          <p:nvPr/>
        </p:nvSpPr>
        <p:spPr>
          <a:xfrm>
            <a:off x="731520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Resource usage is within the safe range.</a:t>
            </a:r>
            <a:endParaRPr lang="en-US" sz="1400" dirty="0"/>
          </a:p>
        </p:txBody>
      </p:sp>
      <p:sp>
        <p:nvSpPr>
          <p:cNvPr id="8" name="Card 287"/>
          <p:cNvSpPr/>
          <p:nvPr/>
        </p:nvSpPr>
        <p:spPr>
          <a:xfrm>
            <a:off x="3291840" y="1325880"/>
            <a:ext cx="256032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Badge 288"/>
          <p:cNvSpPr/>
          <p:nvPr/>
        </p:nvSpPr>
        <p:spPr>
          <a:xfrm>
            <a:off x="356616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289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714500"/>
            <a:ext cx="320040" cy="320040"/>
          </a:xfrm>
          <a:prstGeom prst="rect">
            <a:avLst/>
          </a:prstGeom>
        </p:spPr>
      </p:pic>
      <p:sp>
        <p:nvSpPr>
          <p:cNvPr id="11" name="Text 290"/>
          <p:cNvSpPr txBox="1"/>
          <p:nvPr/>
        </p:nvSpPr>
        <p:spPr>
          <a:xfrm>
            <a:off x="356616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WARNING</a:t>
            </a:r>
            <a:endParaRPr lang="en-US" sz="2200" dirty="0"/>
          </a:p>
        </p:txBody>
      </p:sp>
      <p:sp>
        <p:nvSpPr>
          <p:cNvPr id="12" name="Text 291"/>
          <p:cNvSpPr txBox="1"/>
          <p:nvPr/>
        </p:nvSpPr>
        <p:spPr>
          <a:xfrm>
            <a:off x="3566160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Resource usage has crossed the warning threshold.</a:t>
            </a:r>
            <a:endParaRPr lang="en-US" sz="1400" dirty="0"/>
          </a:p>
        </p:txBody>
      </p:sp>
      <p:sp>
        <p:nvSpPr>
          <p:cNvPr id="13" name="Card 292"/>
          <p:cNvSpPr/>
          <p:nvPr/>
        </p:nvSpPr>
        <p:spPr>
          <a:xfrm>
            <a:off x="6126480" y="1325880"/>
            <a:ext cx="256032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Badge 293"/>
          <p:cNvSpPr/>
          <p:nvPr/>
        </p:nvSpPr>
        <p:spPr>
          <a:xfrm>
            <a:off x="6400800" y="15544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 294" descr="FaTimes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714500"/>
            <a:ext cx="320040" cy="320040"/>
          </a:xfrm>
          <a:prstGeom prst="rect">
            <a:avLst/>
          </a:prstGeom>
        </p:spPr>
      </p:pic>
      <p:sp>
        <p:nvSpPr>
          <p:cNvPr id="16" name="Text 295"/>
          <p:cNvSpPr txBox="1"/>
          <p:nvPr/>
        </p:nvSpPr>
        <p:spPr>
          <a:xfrm>
            <a:off x="64008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CRITICAL</a:t>
            </a:r>
            <a:endParaRPr lang="en-US" sz="2200" dirty="0"/>
          </a:p>
        </p:txBody>
      </p:sp>
      <p:sp>
        <p:nvSpPr>
          <p:cNvPr id="17" name="Text 296"/>
          <p:cNvSpPr txBox="1"/>
          <p:nvPr/>
        </p:nvSpPr>
        <p:spPr>
          <a:xfrm>
            <a:off x="6400800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Resource usage has reached a critical level.</a:t>
            </a:r>
            <a:endParaRPr lang="en-US" sz="1400" dirty="0"/>
          </a:p>
        </p:txBody>
      </p:sp>
      <p:sp>
        <p:nvSpPr>
          <p:cNvPr id="18" name="Card 297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19" name="Text 298"/>
          <p:cNvSpPr txBox="1"/>
          <p:nvPr/>
        </p:nvSpPr>
        <p:spPr>
          <a:xfrm>
            <a:off x="685800" y="3840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ANALYSIS</a:t>
            </a:r>
            <a:endParaRPr lang="en-US" sz="1200" dirty="0"/>
          </a:p>
        </p:txBody>
      </p:sp>
      <p:sp>
        <p:nvSpPr>
          <p:cNvPr id="20" name="Text 299"/>
          <p:cNvSpPr txBox="1"/>
          <p:nvPr/>
        </p:nvSpPr>
        <p:spPr>
          <a:xfrm>
            <a:off x="1645920" y="38404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Individual CPU, memory and I/O results are combined to determine the overall system/process condition.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Alert System</a:t>
            </a:r>
            <a:endParaRPr lang="en-US" sz="3400" dirty="0"/>
          </a:p>
        </p:txBody>
      </p:sp>
      <p:sp>
        <p:nvSpPr>
          <p:cNvPr id="3" name="Text 300"/>
          <p:cNvSpPr txBox="1"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Alerts can be generated for:</a:t>
            </a:r>
            <a:endParaRPr lang="en-US" sz="1400" dirty="0"/>
          </a:p>
        </p:txBody>
      </p:sp>
      <p:sp>
        <p:nvSpPr>
          <p:cNvPr id="4" name="Card 301"/>
          <p:cNvSpPr/>
          <p:nvPr/>
        </p:nvSpPr>
        <p:spPr>
          <a:xfrm>
            <a:off x="457200" y="1645920"/>
            <a:ext cx="4754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Badge 302"/>
          <p:cNvSpPr/>
          <p:nvPr/>
        </p:nvSpPr>
        <p:spPr>
          <a:xfrm>
            <a:off x="640080" y="1737360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 303" descr="FaMicro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56232"/>
            <a:ext cx="237744" cy="237744"/>
          </a:xfrm>
          <a:prstGeom prst="rect">
            <a:avLst/>
          </a:prstGeom>
        </p:spPr>
      </p:pic>
      <p:sp>
        <p:nvSpPr>
          <p:cNvPr id="7" name="Text 304"/>
          <p:cNvSpPr txBox="1"/>
          <p:nvPr/>
        </p:nvSpPr>
        <p:spPr>
          <a:xfrm>
            <a:off x="1325880" y="1645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 CPU utilization</a:t>
            </a:r>
            <a:endParaRPr lang="en-US" sz="1600" dirty="0"/>
          </a:p>
        </p:txBody>
      </p:sp>
      <p:sp>
        <p:nvSpPr>
          <p:cNvPr id="8" name="Card 305"/>
          <p:cNvSpPr/>
          <p:nvPr/>
        </p:nvSpPr>
        <p:spPr>
          <a:xfrm>
            <a:off x="457200" y="2423160"/>
            <a:ext cx="4754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Badge 306"/>
          <p:cNvSpPr/>
          <p:nvPr/>
        </p:nvSpPr>
        <p:spPr>
          <a:xfrm>
            <a:off x="640080" y="2514600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307" descr="Fa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633472"/>
            <a:ext cx="237744" cy="237744"/>
          </a:xfrm>
          <a:prstGeom prst="rect">
            <a:avLst/>
          </a:prstGeom>
        </p:spPr>
      </p:pic>
      <p:sp>
        <p:nvSpPr>
          <p:cNvPr id="11" name="Text 308"/>
          <p:cNvSpPr txBox="1"/>
          <p:nvPr/>
        </p:nvSpPr>
        <p:spPr>
          <a:xfrm>
            <a:off x="1325880" y="24231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 memory utilization</a:t>
            </a:r>
            <a:endParaRPr lang="en-US" sz="1600" dirty="0"/>
          </a:p>
        </p:txBody>
      </p:sp>
      <p:sp>
        <p:nvSpPr>
          <p:cNvPr id="12" name="Card 309"/>
          <p:cNvSpPr/>
          <p:nvPr/>
        </p:nvSpPr>
        <p:spPr>
          <a:xfrm>
            <a:off x="457200" y="3200400"/>
            <a:ext cx="4754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Badge 310"/>
          <p:cNvSpPr/>
          <p:nvPr/>
        </p:nvSpPr>
        <p:spPr>
          <a:xfrm>
            <a:off x="640080" y="3291840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con 311" descr="FaHd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10712"/>
            <a:ext cx="237744" cy="237744"/>
          </a:xfrm>
          <a:prstGeom prst="rect">
            <a:avLst/>
          </a:prstGeom>
        </p:spPr>
      </p:pic>
      <p:sp>
        <p:nvSpPr>
          <p:cNvPr id="15" name="Text 312"/>
          <p:cNvSpPr txBox="1"/>
          <p:nvPr/>
        </p:nvSpPr>
        <p:spPr>
          <a:xfrm>
            <a:off x="132588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 I/O activity</a:t>
            </a:r>
            <a:endParaRPr lang="en-US" sz="1600" dirty="0"/>
          </a:p>
        </p:txBody>
      </p:sp>
      <p:sp>
        <p:nvSpPr>
          <p:cNvPr id="16" name="Card 313"/>
          <p:cNvSpPr/>
          <p:nvPr/>
        </p:nvSpPr>
        <p:spPr>
          <a:xfrm>
            <a:off x="457200" y="3977640"/>
            <a:ext cx="4754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Badge 314"/>
          <p:cNvSpPr/>
          <p:nvPr/>
        </p:nvSpPr>
        <p:spPr>
          <a:xfrm>
            <a:off x="640080" y="4069080"/>
            <a:ext cx="475488" cy="47548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 315" descr="FaExclamationTriang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87952"/>
            <a:ext cx="237744" cy="237744"/>
          </a:xfrm>
          <a:prstGeom prst="rect">
            <a:avLst/>
          </a:prstGeom>
        </p:spPr>
      </p:pic>
      <p:sp>
        <p:nvSpPr>
          <p:cNvPr id="19" name="Text 316"/>
          <p:cNvSpPr txBox="1"/>
          <p:nvPr/>
        </p:nvSpPr>
        <p:spPr>
          <a:xfrm>
            <a:off x="1325880" y="39776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Critical resource usage</a:t>
            </a:r>
            <a:endParaRPr lang="en-US" sz="1600" dirty="0"/>
          </a:p>
        </p:txBody>
      </p:sp>
      <p:sp>
        <p:nvSpPr>
          <p:cNvPr id="20" name="Card 317"/>
          <p:cNvSpPr/>
          <p:nvPr/>
        </p:nvSpPr>
        <p:spPr>
          <a:xfrm>
            <a:off x="5486400" y="1645920"/>
            <a:ext cx="3200400" cy="2990088"/>
          </a:xfrm>
          <a:prstGeom prst="roundRect">
            <a:avLst>
              <a:gd name="adj" fmla="val 3058"/>
            </a:avLst>
          </a:prstGeom>
          <a:solidFill>
            <a:schemeClr val="tx1"/>
          </a:solidFill>
          <a:ln/>
        </p:spPr>
      </p:sp>
      <p:sp>
        <p:nvSpPr>
          <p:cNvPr id="21" name="Badge 318"/>
          <p:cNvSpPr/>
          <p:nvPr/>
        </p:nvSpPr>
        <p:spPr>
          <a:xfrm>
            <a:off x="5760720" y="19202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 319" descr="Fa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103120"/>
            <a:ext cx="365760" cy="365760"/>
          </a:xfrm>
          <a:prstGeom prst="rect">
            <a:avLst/>
          </a:prstGeom>
        </p:spPr>
      </p:pic>
      <p:sp>
        <p:nvSpPr>
          <p:cNvPr id="23" name="Text 320"/>
          <p:cNvSpPr txBox="1"/>
          <p:nvPr/>
        </p:nvSpPr>
        <p:spPr>
          <a:xfrm>
            <a:off x="5760720" y="288036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Predefined thresholds classify resource usage and report abnormal conditions.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Output</a:t>
            </a:r>
            <a:endParaRPr lang="en-US" sz="3400" dirty="0"/>
          </a:p>
        </p:txBody>
      </p:sp>
      <p:sp>
        <p:nvSpPr>
          <p:cNvPr id="3" name="Card 321"/>
          <p:cNvSpPr/>
          <p:nvPr/>
        </p:nvSpPr>
        <p:spPr>
          <a:xfrm>
            <a:off x="457200" y="1280160"/>
            <a:ext cx="2926080" cy="333756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Number 322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23"/>
          <p:cNvSpPr txBox="1"/>
          <p:nvPr/>
        </p:nvSpPr>
        <p:spPr>
          <a:xfrm>
            <a:off x="1188720" y="1481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SYSTEM OVERVIEW</a:t>
            </a:r>
            <a:endParaRPr lang="en-US" sz="1600" dirty="0"/>
          </a:p>
        </p:txBody>
      </p:sp>
      <p:sp>
        <p:nvSpPr>
          <p:cNvPr id="6" name="Text 324"/>
          <p:cNvSpPr txBox="1"/>
          <p:nvPr/>
        </p:nvSpPr>
        <p:spPr>
          <a:xfrm>
            <a:off x="685800" y="21488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System CPU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System memory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Running processes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System I/O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System resource status</a:t>
            </a:r>
            <a:endParaRPr lang="en-US" sz="1600" dirty="0"/>
          </a:p>
        </p:txBody>
      </p:sp>
      <p:sp>
        <p:nvSpPr>
          <p:cNvPr id="7" name="Card 325"/>
          <p:cNvSpPr/>
          <p:nvPr/>
        </p:nvSpPr>
        <p:spPr>
          <a:xfrm>
            <a:off x="3566160" y="1280160"/>
            <a:ext cx="5120640" cy="333756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Number 326"/>
          <p:cNvSpPr/>
          <p:nvPr/>
        </p:nvSpPr>
        <p:spPr>
          <a:xfrm>
            <a:off x="3794760" y="14813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327"/>
          <p:cNvSpPr txBox="1"/>
          <p:nvPr/>
        </p:nvSpPr>
        <p:spPr>
          <a:xfrm>
            <a:off x="434340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SELECTED PROCESS ANALYSIS</a:t>
            </a:r>
            <a:endParaRPr lang="en-US" sz="1600" dirty="0"/>
          </a:p>
        </p:txBody>
      </p:sp>
      <p:sp>
        <p:nvSpPr>
          <p:cNvPr id="10" name="Text 328"/>
          <p:cNvSpPr txBox="1"/>
          <p:nvPr/>
        </p:nvSpPr>
        <p:spPr>
          <a:xfrm>
            <a:off x="3794760" y="2148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PID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name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state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Threads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CPU</a:t>
            </a:r>
            <a:endParaRPr lang="en-US" sz="1600" dirty="0"/>
          </a:p>
        </p:txBody>
      </p:sp>
      <p:sp>
        <p:nvSpPr>
          <p:cNvPr id="11" name="Text 329"/>
          <p:cNvSpPr txBox="1"/>
          <p:nvPr/>
        </p:nvSpPr>
        <p:spPr>
          <a:xfrm>
            <a:off x="6263640" y="2148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memory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I/O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Resource status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Overall analysis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Alerts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Difference from top and free</a:t>
            </a:r>
            <a:endParaRPr lang="en-US" sz="3400" dirty="0"/>
          </a:p>
        </p:txBody>
      </p:sp>
      <p:sp>
        <p:nvSpPr>
          <p:cNvPr id="3" name="Card 330"/>
          <p:cNvSpPr/>
          <p:nvPr/>
        </p:nvSpPr>
        <p:spPr>
          <a:xfrm>
            <a:off x="457200" y="1280160"/>
            <a:ext cx="3291840" cy="2788920"/>
          </a:xfrm>
          <a:prstGeom prst="roundRect">
            <a:avLst>
              <a:gd name="adj" fmla="val 3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331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 332" descr="Fa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228600" cy="228600"/>
          </a:xfrm>
          <a:prstGeom prst="rect">
            <a:avLst/>
          </a:prstGeom>
        </p:spPr>
      </p:pic>
      <p:sp>
        <p:nvSpPr>
          <p:cNvPr id="6" name="Text 333"/>
          <p:cNvSpPr txBox="1"/>
          <p:nvPr/>
        </p:nvSpPr>
        <p:spPr>
          <a:xfrm>
            <a:off x="128016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Traditional Commands</a:t>
            </a:r>
            <a:endParaRPr lang="en-US" sz="1800" dirty="0"/>
          </a:p>
        </p:txBody>
      </p:sp>
      <p:sp>
        <p:nvSpPr>
          <p:cNvPr id="7" name="Text 334"/>
          <p:cNvSpPr txBox="1"/>
          <p:nvPr/>
        </p:nvSpPr>
        <p:spPr>
          <a:xfrm>
            <a:off x="685800" y="21488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and similar utilities provide predefined system information.</a:t>
            </a:r>
            <a:endParaRPr lang="en-US" sz="1400" dirty="0"/>
          </a:p>
        </p:txBody>
      </p:sp>
      <p:sp>
        <p:nvSpPr>
          <p:cNvPr id="8" name="Card 335"/>
          <p:cNvSpPr/>
          <p:nvPr/>
        </p:nvSpPr>
        <p:spPr>
          <a:xfrm>
            <a:off x="3931920" y="1280160"/>
            <a:ext cx="4754880" cy="2788920"/>
          </a:xfrm>
          <a:prstGeom prst="roundRect">
            <a:avLst>
              <a:gd name="adj" fmla="val 327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Badge 336"/>
          <p:cNvSpPr/>
          <p:nvPr/>
        </p:nvSpPr>
        <p:spPr>
          <a:xfrm>
            <a:off x="41605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337" descr="FaLinu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577340"/>
            <a:ext cx="228600" cy="228600"/>
          </a:xfrm>
          <a:prstGeom prst="rect">
            <a:avLst/>
          </a:prstGeom>
        </p:spPr>
      </p:pic>
      <p:sp>
        <p:nvSpPr>
          <p:cNvPr id="11" name="Text 338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Kernel Monitor</a:t>
            </a:r>
            <a:endParaRPr lang="en-US" sz="1800" dirty="0"/>
          </a:p>
        </p:txBody>
      </p:sp>
      <p:sp>
        <p:nvSpPr>
          <p:cNvPr id="12" name="Text 339"/>
          <p:cNvSpPr txBox="1"/>
          <p:nvPr/>
        </p:nvSpPr>
        <p:spPr>
          <a:xfrm>
            <a:off x="416052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Combines multiple kernel interfaces into one customized application. It additionally provides:</a:t>
            </a:r>
            <a:endParaRPr lang="en-US" sz="1400" dirty="0"/>
          </a:p>
        </p:txBody>
      </p:sp>
      <p:sp>
        <p:nvSpPr>
          <p:cNvPr id="13" name="Text 340"/>
          <p:cNvSpPr txBox="1"/>
          <p:nvPr/>
        </p:nvSpPr>
        <p:spPr>
          <a:xfrm>
            <a:off x="4160520" y="2450592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PID-based process selection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Process-specific CPU, memory and I/O analysis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Consecutive-sample calculations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Resource classification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Integrated analysis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Customized alerts</a:t>
            </a:r>
            <a:endParaRPr lang="en-US" sz="1400" dirty="0"/>
          </a:p>
        </p:txBody>
      </p:sp>
      <p:sp>
        <p:nvSpPr>
          <p:cNvPr id="14" name="Card 341"/>
          <p:cNvSpPr/>
          <p:nvPr/>
        </p:nvSpPr>
        <p:spPr>
          <a:xfrm>
            <a:off x="457200" y="4187952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/>
        </p:spPr>
      </p:sp>
      <p:sp>
        <p:nvSpPr>
          <p:cNvPr id="15" name="Text 342"/>
          <p:cNvSpPr txBox="1"/>
          <p:nvPr/>
        </p:nvSpPr>
        <p:spPr>
          <a:xfrm>
            <a:off x="685800" y="41879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KEY POINT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project shows how system monitoring can be implemented directly using Linux kernel interfaces rather than simply using existing monitoring commands.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Technologies Used</a:t>
            </a:r>
            <a:endParaRPr lang="en-US" sz="3400" dirty="0"/>
          </a:p>
        </p:txBody>
      </p:sp>
      <p:sp>
        <p:nvSpPr>
          <p:cNvPr id="3" name="Card 343"/>
          <p:cNvSpPr/>
          <p:nvPr/>
        </p:nvSpPr>
        <p:spPr>
          <a:xfrm>
            <a:off x="457200" y="128016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34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345" descr="Fa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77340"/>
            <a:ext cx="228600" cy="228600"/>
          </a:xfrm>
          <a:prstGeom prst="rect">
            <a:avLst/>
          </a:prstGeom>
        </p:spPr>
      </p:pic>
      <p:sp>
        <p:nvSpPr>
          <p:cNvPr id="6" name="Text 346"/>
          <p:cNvSpPr txBox="1"/>
          <p:nvPr/>
        </p:nvSpPr>
        <p:spPr>
          <a:xfrm>
            <a:off x="123444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Software</a:t>
            </a:r>
            <a:endParaRPr lang="en-US" sz="1800" dirty="0"/>
          </a:p>
        </p:txBody>
      </p:sp>
      <p:sp>
        <p:nvSpPr>
          <p:cNvPr id="7" name="Text 347"/>
          <p:cNvSpPr txBox="1"/>
          <p:nvPr/>
        </p:nvSpPr>
        <p:spPr>
          <a:xfrm>
            <a:off x="640080" y="21031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 Programming Language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Linux / Ubuntu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GCC Compiler</a:t>
            </a:r>
            <a:endParaRPr lang="en-US" sz="1600" dirty="0"/>
          </a:p>
        </p:txBody>
      </p:sp>
      <p:sp>
        <p:nvSpPr>
          <p:cNvPr id="8" name="Card 348"/>
          <p:cNvSpPr/>
          <p:nvPr/>
        </p:nvSpPr>
        <p:spPr>
          <a:xfrm>
            <a:off x="3291840" y="128016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Badge 349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 350" descr="FaFolder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77340"/>
            <a:ext cx="228600" cy="228600"/>
          </a:xfrm>
          <a:prstGeom prst="rect">
            <a:avLst/>
          </a:prstGeom>
        </p:spPr>
      </p:pic>
      <p:sp>
        <p:nvSpPr>
          <p:cNvPr id="11" name="Text 351"/>
          <p:cNvSpPr txBox="1"/>
          <p:nvPr/>
        </p:nvSpPr>
        <p:spPr>
          <a:xfrm>
            <a:off x="40690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Linux Interfaces</a:t>
            </a:r>
            <a:endParaRPr lang="en-US" sz="1800" dirty="0"/>
          </a:p>
        </p:txBody>
      </p:sp>
      <p:sp>
        <p:nvSpPr>
          <p:cNvPr id="12" name="Text 352"/>
          <p:cNvSpPr txBox="1"/>
          <p:nvPr/>
        </p:nvSpPr>
        <p:spPr>
          <a:xfrm>
            <a:off x="3474720" y="21031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/proc/stat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/proc/meminfo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/proc/diskstats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/proc/&lt;PID&gt;/status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/proc/&lt;PID&gt;/stat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/proc/&lt;PID&gt;/io</a:t>
            </a:r>
            <a:endParaRPr lang="en-US" sz="1400" dirty="0"/>
          </a:p>
        </p:txBody>
      </p:sp>
      <p:sp>
        <p:nvSpPr>
          <p:cNvPr id="13" name="Card 353"/>
          <p:cNvSpPr/>
          <p:nvPr/>
        </p:nvSpPr>
        <p:spPr>
          <a:xfrm>
            <a:off x="6126480" y="128016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Badge 354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 355" descr="Fa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577340"/>
            <a:ext cx="228600" cy="228600"/>
          </a:xfrm>
          <a:prstGeom prst="rect">
            <a:avLst/>
          </a:prstGeom>
        </p:spPr>
      </p:pic>
      <p:sp>
        <p:nvSpPr>
          <p:cNvPr id="16" name="Text 356"/>
          <p:cNvSpPr txBox="1"/>
          <p:nvPr/>
        </p:nvSpPr>
        <p:spPr>
          <a:xfrm>
            <a:off x="690372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Concepts Used</a:t>
            </a:r>
            <a:endParaRPr lang="en-US" sz="1800" dirty="0"/>
          </a:p>
        </p:txBody>
      </p:sp>
      <p:sp>
        <p:nvSpPr>
          <p:cNvPr id="17" name="Text 357"/>
          <p:cNvSpPr txBox="1"/>
          <p:nvPr/>
        </p:nvSpPr>
        <p:spPr>
          <a:xfrm>
            <a:off x="6309360" y="21031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management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CPU scheduling / resource utilization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Memory management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File and I/O management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Linux virtual filesystem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System monitoring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358"/>
          <p:cNvSpPr txBox="1"/>
          <p:nvPr/>
        </p:nvSpPr>
        <p:spPr>
          <a:xfrm>
            <a:off x="457200" y="1371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Kernel Monitor provides an integrated view of Linux system resources.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It combines system-wide monitoring with detailed analysis of a user-selected process.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CPU, memory and I/O information is collected directly from kernel-provided interfaces.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Consecutive samples are used to calculate resource usage and rates.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Results are classified and analyzed to provide meaningful system status and alerts.</a:t>
            </a:r>
            <a:endParaRPr lang="en-US" sz="1600" dirty="0"/>
          </a:p>
        </p:txBody>
      </p:sp>
      <p:sp>
        <p:nvSpPr>
          <p:cNvPr id="4" name="Card 359"/>
          <p:cNvSpPr/>
          <p:nvPr/>
        </p:nvSpPr>
        <p:spPr>
          <a:xfrm>
            <a:off x="5577840" y="1371600"/>
            <a:ext cx="3108960" cy="3200400"/>
          </a:xfrm>
          <a:prstGeom prst="roundRect">
            <a:avLst>
              <a:gd name="adj" fmla="val 2941"/>
            </a:avLst>
          </a:prstGeom>
          <a:solidFill>
            <a:schemeClr val="accent1"/>
          </a:solidFill>
          <a:ln/>
        </p:spPr>
      </p:sp>
      <p:sp>
        <p:nvSpPr>
          <p:cNvPr id="5" name="Badge 360"/>
          <p:cNvSpPr/>
          <p:nvPr/>
        </p:nvSpPr>
        <p:spPr>
          <a:xfrm>
            <a:off x="5852160" y="16002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Icon 361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737360"/>
            <a:ext cx="274320" cy="274320"/>
          </a:xfrm>
          <a:prstGeom prst="rect">
            <a:avLst/>
          </a:prstGeom>
        </p:spPr>
      </p:pic>
      <p:sp>
        <p:nvSpPr>
          <p:cNvPr id="7" name="Text 362"/>
          <p:cNvSpPr txBox="1"/>
          <p:nvPr/>
        </p:nvSpPr>
        <p:spPr>
          <a:xfrm>
            <a:off x="585216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FINAL OUTCOME</a:t>
            </a:r>
            <a:endParaRPr lang="en-US" sz="1200" dirty="0"/>
          </a:p>
        </p:txBody>
      </p:sp>
      <p:sp>
        <p:nvSpPr>
          <p:cNvPr id="8" name="Text 363"/>
          <p:cNvSpPr txBox="1"/>
          <p:nvPr/>
        </p:nvSpPr>
        <p:spPr>
          <a:xfrm>
            <a:off x="5852160" y="26974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customized Linux kernel-level monitoring application for system and process resource analysis.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rnel Monitor">
  <a:themeElements>
    <a:clrScheme name="Kernel Monitor">
      <a:dk1>
        <a:srgbClr val="0B1220"/>
      </a:dk1>
      <a:lt1>
        <a:srgbClr val="FFFFFF"/>
      </a:lt1>
      <a:dk2>
        <a:srgbClr val="1E293B"/>
      </a:dk2>
      <a:lt2>
        <a:srgbClr val="F1F5F9"/>
      </a:lt2>
      <a:accent1>
        <a:srgbClr val="059669"/>
      </a:accent1>
      <a:accent2>
        <a:srgbClr val="0284C7"/>
      </a:accent2>
      <a:accent3>
        <a:srgbClr val="D97706"/>
      </a:accent3>
      <a:accent4>
        <a:srgbClr val="DC2626"/>
      </a:accent4>
      <a:accent5>
        <a:srgbClr val="34D399"/>
      </a:accent5>
      <a:accent6>
        <a:srgbClr val="64748B"/>
      </a:accent6>
      <a:hlink>
        <a:srgbClr val="0284C7"/>
      </a:hlink>
      <a:folHlink>
        <a:srgbClr val="64748B"/>
      </a:folHlink>
    </a:clrScheme>
    <a:fontScheme name="Kernel Moni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Monitor</dc:title>
  <dc:subject>PptxGenJS Presentation</dc:subject>
  <dc:creator>PptxGenJS</dc:creator>
  <cp:lastModifiedBy>PptxGenJS</cp:lastModifiedBy>
  <cp:revision>1</cp:revision>
  <dcterms:created xsi:type="dcterms:W3CDTF">2026-10-06T03:12:42Z</dcterms:created>
  <dcterms:modified xsi:type="dcterms:W3CDTF">2026-10-06T03:12:42Z</dcterms:modified>
</cp:coreProperties>
</file>